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8288000" cy="10287000"/>
  <p:notesSz cx="6858000" cy="9144000"/>
  <p:embeddedFontLst>
    <p:embeddedFont>
      <p:font typeface="Computer Says No" panose="020B0604020202020204" charset="0"/>
      <p:regular r:id="rId37"/>
    </p:embeddedFont>
    <p:embeddedFont>
      <p:font typeface="Cy Grotesk Key" panose="020B0604020202020204" charset="0"/>
      <p:regular r:id="rId38"/>
    </p:embeddedFont>
    <p:embeddedFont>
      <p:font typeface="Cy Grotesk Key Bold" panose="020B0604020202020204" charset="0"/>
      <p:regular r:id="rId39"/>
    </p:embeddedFont>
    <p:embeddedFont>
      <p:font typeface="Lato Bold" panose="020B0604020202020204" charset="0"/>
      <p:regular r:id="rId40"/>
    </p:embeddedFont>
    <p:embeddedFont>
      <p:font typeface="Lato Bold Italics" panose="020B0604020202020204" charset="0"/>
      <p:regular r:id="rId41"/>
    </p:embeddedFont>
    <p:embeddedFont>
      <p:font typeface="Pattanakarn" panose="020B0604020202020204" charset="-34"/>
      <p:regular r:id="rId42"/>
    </p:embeddedFont>
    <p:embeddedFont>
      <p:font typeface="Pattanakarn Italics" panose="020B0604020202020204" charset="-34"/>
      <p:regular r:id="rId43"/>
    </p:embeddedFont>
    <p:embeddedFont>
      <p:font typeface="Poppins" panose="00000500000000000000" pitchFamily="2" charset="0"/>
      <p:regular r:id="rId44"/>
    </p:embeddedFont>
    <p:embeddedFont>
      <p:font typeface="Poppins Bold" panose="020B0604020202020204" charset="0"/>
      <p:regular r:id="rId45"/>
    </p:embeddedFont>
    <p:embeddedFont>
      <p:font typeface="Poppins Light" panose="00000400000000000000" pitchFamily="2" charset="0"/>
      <p:regular r:id="rId46"/>
    </p:embeddedFont>
    <p:embeddedFont>
      <p:font typeface="Telegraf" panose="020B0604020202020204" charset="0"/>
      <p:regular r:id="rId47"/>
    </p:embeddedFont>
    <p:embeddedFont>
      <p:font typeface="Telegraf Bold" panose="020B0604020202020204" charset="0"/>
      <p:regular r:id="rId48"/>
    </p:embeddedFont>
    <p:embeddedFont>
      <p:font typeface="TT Norms Bold" panose="020B0604020202020204" charset="0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62" y="6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8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svg"/><Relationship Id="rId10" Type="http://schemas.openxmlformats.org/officeDocument/2006/relationships/image" Target="../media/image18.pn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0.svg"/><Relationship Id="rId5" Type="http://schemas.openxmlformats.org/officeDocument/2006/relationships/image" Target="../media/image10.sv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12.sv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12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22.svg"/><Relationship Id="rId10" Type="http://schemas.openxmlformats.org/officeDocument/2006/relationships/image" Target="../media/image9.png"/><Relationship Id="rId4" Type="http://schemas.openxmlformats.org/officeDocument/2006/relationships/image" Target="../media/image21.png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svg"/><Relationship Id="rId7" Type="http://schemas.openxmlformats.org/officeDocument/2006/relationships/image" Target="../media/image3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3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.svg"/><Relationship Id="rId5" Type="http://schemas.openxmlformats.org/officeDocument/2006/relationships/image" Target="../media/image22.sv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35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0.svg"/><Relationship Id="rId5" Type="http://schemas.openxmlformats.org/officeDocument/2006/relationships/image" Target="../media/image10.svg"/><Relationship Id="rId10" Type="http://schemas.openxmlformats.org/officeDocument/2006/relationships/image" Target="../media/image19.png"/><Relationship Id="rId4" Type="http://schemas.openxmlformats.org/officeDocument/2006/relationships/image" Target="../media/image9.png"/><Relationship Id="rId9" Type="http://schemas.openxmlformats.org/officeDocument/2006/relationships/image" Target="../media/image4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6.svg"/><Relationship Id="rId7" Type="http://schemas.openxmlformats.org/officeDocument/2006/relationships/image" Target="../media/image31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3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2.svg"/><Relationship Id="rId10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12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40.svg"/><Relationship Id="rId5" Type="http://schemas.openxmlformats.org/officeDocument/2006/relationships/image" Target="../media/image2.svg"/><Relationship Id="rId10" Type="http://schemas.openxmlformats.org/officeDocument/2006/relationships/image" Target="../media/image39.png"/><Relationship Id="rId4" Type="http://schemas.openxmlformats.org/officeDocument/2006/relationships/image" Target="../media/image1.png"/><Relationship Id="rId9" Type="http://schemas.openxmlformats.org/officeDocument/2006/relationships/image" Target="../media/image3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40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40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10.svg"/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12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2.svg"/><Relationship Id="rId5" Type="http://schemas.openxmlformats.org/officeDocument/2006/relationships/image" Target="../media/image22.svg"/><Relationship Id="rId10" Type="http://schemas.openxmlformats.org/officeDocument/2006/relationships/image" Target="../media/image1.png"/><Relationship Id="rId4" Type="http://schemas.openxmlformats.org/officeDocument/2006/relationships/image" Target="../media/image21.png"/><Relationship Id="rId9" Type="http://schemas.openxmlformats.org/officeDocument/2006/relationships/image" Target="../media/image35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35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4.svg"/><Relationship Id="rId7" Type="http://schemas.openxmlformats.org/officeDocument/2006/relationships/image" Target="../media/image10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38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4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48.png"/><Relationship Id="rId3" Type="http://schemas.openxmlformats.org/officeDocument/2006/relationships/image" Target="../media/image6.svg"/><Relationship Id="rId7" Type="http://schemas.openxmlformats.org/officeDocument/2006/relationships/image" Target="../media/image2.svg"/><Relationship Id="rId12" Type="http://schemas.openxmlformats.org/officeDocument/2006/relationships/image" Target="../media/image4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46.png"/><Relationship Id="rId5" Type="http://schemas.openxmlformats.org/officeDocument/2006/relationships/image" Target="../media/image4.svg"/><Relationship Id="rId15" Type="http://schemas.openxmlformats.org/officeDocument/2006/relationships/image" Target="../media/image28.svg"/><Relationship Id="rId10" Type="http://schemas.openxmlformats.org/officeDocument/2006/relationships/image" Target="../media/image45.png"/><Relationship Id="rId4" Type="http://schemas.openxmlformats.org/officeDocument/2006/relationships/image" Target="../media/image3.png"/><Relationship Id="rId9" Type="http://schemas.openxmlformats.org/officeDocument/2006/relationships/image" Target="../media/image44.png"/><Relationship Id="rId14" Type="http://schemas.openxmlformats.org/officeDocument/2006/relationships/image" Target="../media/image2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35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10.svg"/><Relationship Id="rId7" Type="http://schemas.openxmlformats.org/officeDocument/2006/relationships/image" Target="../media/image2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57.svg"/><Relationship Id="rId3" Type="http://schemas.openxmlformats.org/officeDocument/2006/relationships/image" Target="../media/image22.svg"/><Relationship Id="rId7" Type="http://schemas.openxmlformats.org/officeDocument/2006/relationships/image" Target="../media/image6.svg"/><Relationship Id="rId12" Type="http://schemas.openxmlformats.org/officeDocument/2006/relationships/image" Target="../media/image5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5.svg"/><Relationship Id="rId5" Type="http://schemas.openxmlformats.org/officeDocument/2006/relationships/image" Target="../media/image10.svg"/><Relationship Id="rId10" Type="http://schemas.openxmlformats.org/officeDocument/2006/relationships/image" Target="../media/image54.png"/><Relationship Id="rId4" Type="http://schemas.openxmlformats.org/officeDocument/2006/relationships/image" Target="../media/image9.png"/><Relationship Id="rId9" Type="http://schemas.openxmlformats.org/officeDocument/2006/relationships/image" Target="../media/image2.sv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svg"/><Relationship Id="rId7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0.svg"/><Relationship Id="rId7" Type="http://schemas.openxmlformats.org/officeDocument/2006/relationships/image" Target="../media/image2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2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830" y="7399123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7"/>
                </a:lnTo>
                <a:lnTo>
                  <a:pt x="0" y="4258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25756">
            <a:off x="11452918" y="7564254"/>
            <a:ext cx="8020168" cy="4763181"/>
          </a:xfrm>
          <a:custGeom>
            <a:avLst/>
            <a:gdLst/>
            <a:ahLst/>
            <a:cxnLst/>
            <a:rect l="l" t="t" r="r" b="b"/>
            <a:pathLst>
              <a:path w="8020168" h="4763181">
                <a:moveTo>
                  <a:pt x="0" y="0"/>
                </a:moveTo>
                <a:lnTo>
                  <a:pt x="8020168" y="0"/>
                </a:lnTo>
                <a:lnTo>
                  <a:pt x="8020168" y="4763182"/>
                </a:lnTo>
                <a:lnTo>
                  <a:pt x="0" y="4763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485548" y="-128053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255213">
            <a:off x="12153868" y="2183483"/>
            <a:ext cx="7075643" cy="5817581"/>
          </a:xfrm>
          <a:custGeom>
            <a:avLst/>
            <a:gdLst/>
            <a:ahLst/>
            <a:cxnLst/>
            <a:rect l="l" t="t" r="r" b="b"/>
            <a:pathLst>
              <a:path w="7075643" h="5817581">
                <a:moveTo>
                  <a:pt x="0" y="0"/>
                </a:moveTo>
                <a:lnTo>
                  <a:pt x="7075643" y="0"/>
                </a:lnTo>
                <a:lnTo>
                  <a:pt x="7075643" y="5817581"/>
                </a:lnTo>
                <a:lnTo>
                  <a:pt x="0" y="5817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3650550" y="-2714504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733758">
            <a:off x="9535863" y="143137"/>
            <a:ext cx="3899198" cy="4117596"/>
          </a:xfrm>
          <a:custGeom>
            <a:avLst/>
            <a:gdLst/>
            <a:ahLst/>
            <a:cxnLst/>
            <a:rect l="l" t="t" r="r" b="b"/>
            <a:pathLst>
              <a:path w="3899198" h="4117596">
                <a:moveTo>
                  <a:pt x="0" y="0"/>
                </a:moveTo>
                <a:lnTo>
                  <a:pt x="3899198" y="0"/>
                </a:lnTo>
                <a:lnTo>
                  <a:pt x="3899198" y="4117595"/>
                </a:lnTo>
                <a:lnTo>
                  <a:pt x="0" y="4117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35448" y="5495710"/>
            <a:ext cx="16250375" cy="4064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11000">
                <a:solidFill>
                  <a:srgbClr val="FAF7F4"/>
                </a:solidFill>
                <a:latin typeface="Pattanakarn"/>
                <a:ea typeface="Pattanakarn"/>
                <a:cs typeface="Pattanakarn"/>
                <a:sym typeface="Pattanakarn"/>
              </a:rPr>
              <a:t>Prompt Tuning</a:t>
            </a:r>
          </a:p>
          <a:p>
            <a:pPr algn="just">
              <a:lnSpc>
                <a:spcPts val="10450"/>
              </a:lnSpc>
            </a:pPr>
            <a:r>
              <a:rPr lang="en-US" sz="11000">
                <a:solidFill>
                  <a:srgbClr val="FAF7F4"/>
                </a:solidFill>
                <a:latin typeface="Pattanakarn"/>
                <a:ea typeface="Pattanakarn"/>
                <a:cs typeface="Pattanakarn"/>
                <a:sym typeface="Pattanakarn"/>
              </a:rPr>
              <a:t>         and</a:t>
            </a:r>
          </a:p>
          <a:p>
            <a:pPr algn="l">
              <a:lnSpc>
                <a:spcPts val="10450"/>
              </a:lnSpc>
            </a:pPr>
            <a:r>
              <a:rPr lang="en-US" sz="11000">
                <a:solidFill>
                  <a:srgbClr val="FAF7F4"/>
                </a:solidFill>
                <a:latin typeface="Pattanakarn"/>
                <a:ea typeface="Pattanakarn"/>
                <a:cs typeface="Pattanakarn"/>
                <a:sym typeface="Pattanakarn"/>
              </a:rPr>
              <a:t>Instruction Fine Tuning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6102907" y="1848062"/>
            <a:ext cx="9536271" cy="139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8"/>
              </a:lnSpc>
            </a:pPr>
            <a:r>
              <a:rPr lang="en-US" sz="8652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Our Team</a:t>
            </a:r>
          </a:p>
        </p:txBody>
      </p:sp>
      <p:grpSp>
        <p:nvGrpSpPr>
          <p:cNvPr id="4" name="Group 4"/>
          <p:cNvGrpSpPr>
            <a:grpSpLocks noChangeAspect="1"/>
          </p:cNvGrpSpPr>
          <p:nvPr/>
        </p:nvGrpSpPr>
        <p:grpSpPr>
          <a:xfrm>
            <a:off x="13367077" y="4995702"/>
            <a:ext cx="3545220" cy="3545220"/>
            <a:chOff x="0" y="0"/>
            <a:chExt cx="14840029" cy="14840029"/>
          </a:xfrm>
        </p:grpSpPr>
        <p:sp>
          <p:nvSpPr>
            <p:cNvPr id="5" name="Freeform 5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6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7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3"/>
              <a:stretch>
                <a:fillRect l="223" t="-19268" r="223" b="-19268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5142309" y="4995702"/>
            <a:ext cx="3545220" cy="3545220"/>
            <a:chOff x="0" y="0"/>
            <a:chExt cx="14840029" cy="14840029"/>
          </a:xfrm>
        </p:grpSpPr>
        <p:sp>
          <p:nvSpPr>
            <p:cNvPr id="9" name="Freeform 9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-13965" r="-1396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253468" y="4995702"/>
            <a:ext cx="3545220" cy="3545220"/>
            <a:chOff x="0" y="0"/>
            <a:chExt cx="14840029" cy="14840029"/>
          </a:xfrm>
        </p:grpSpPr>
        <p:sp>
          <p:nvSpPr>
            <p:cNvPr id="13" name="Freeform 13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5"/>
              <a:stretch>
                <a:fillRect l="-10169" r="-10169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025589" y="4995702"/>
            <a:ext cx="3545220" cy="354522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295A">
                    <a:alpha val="62000"/>
                  </a:srgbClr>
                </a:gs>
                <a:gs pos="100000">
                  <a:srgbClr val="041468">
                    <a:alpha val="745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6"/>
              <a:stretch>
                <a:fillRect l="-11660" r="-1166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3309622" y="8052267"/>
            <a:ext cx="3660130" cy="630272"/>
            <a:chOff x="0" y="0"/>
            <a:chExt cx="855180" cy="14726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5180" cy="147261"/>
            </a:xfrm>
            <a:custGeom>
              <a:avLst/>
              <a:gdLst/>
              <a:ahLst/>
              <a:cxnLst/>
              <a:rect l="l" t="t" r="r" b="b"/>
              <a:pathLst>
                <a:path w="855180" h="147261">
                  <a:moveTo>
                    <a:pt x="40189" y="0"/>
                  </a:moveTo>
                  <a:lnTo>
                    <a:pt x="814992" y="0"/>
                  </a:lnTo>
                  <a:cubicBezTo>
                    <a:pt x="825650" y="0"/>
                    <a:pt x="835873" y="4234"/>
                    <a:pt x="843409" y="11771"/>
                  </a:cubicBezTo>
                  <a:cubicBezTo>
                    <a:pt x="850946" y="19308"/>
                    <a:pt x="855180" y="29530"/>
                    <a:pt x="855180" y="40189"/>
                  </a:cubicBezTo>
                  <a:lnTo>
                    <a:pt x="855180" y="107073"/>
                  </a:lnTo>
                  <a:cubicBezTo>
                    <a:pt x="855180" y="117731"/>
                    <a:pt x="850946" y="127953"/>
                    <a:pt x="843409" y="135490"/>
                  </a:cubicBezTo>
                  <a:cubicBezTo>
                    <a:pt x="835873" y="143027"/>
                    <a:pt x="825650" y="147261"/>
                    <a:pt x="814992" y="147261"/>
                  </a:cubicBezTo>
                  <a:lnTo>
                    <a:pt x="40189" y="147261"/>
                  </a:lnTo>
                  <a:cubicBezTo>
                    <a:pt x="29530" y="147261"/>
                    <a:pt x="19308" y="143027"/>
                    <a:pt x="11771" y="135490"/>
                  </a:cubicBezTo>
                  <a:cubicBezTo>
                    <a:pt x="4234" y="127953"/>
                    <a:pt x="0" y="117731"/>
                    <a:pt x="0" y="107073"/>
                  </a:cubicBezTo>
                  <a:lnTo>
                    <a:pt x="0" y="40189"/>
                  </a:lnTo>
                  <a:cubicBezTo>
                    <a:pt x="0" y="29530"/>
                    <a:pt x="4234" y="19308"/>
                    <a:pt x="11771" y="11771"/>
                  </a:cubicBezTo>
                  <a:cubicBezTo>
                    <a:pt x="19308" y="4234"/>
                    <a:pt x="29530" y="0"/>
                    <a:pt x="40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55180" cy="204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Theekshana Ranasinghe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74402" y="7999818"/>
            <a:ext cx="3081034" cy="630272"/>
            <a:chOff x="0" y="0"/>
            <a:chExt cx="719876" cy="14726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719876" cy="147261"/>
            </a:xfrm>
            <a:custGeom>
              <a:avLst/>
              <a:gdLst/>
              <a:ahLst/>
              <a:cxnLst/>
              <a:rect l="l" t="t" r="r" b="b"/>
              <a:pathLst>
                <a:path w="719876" h="147261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9519"/>
                  </a:lnTo>
                  <a:cubicBezTo>
                    <a:pt x="719876" y="112181"/>
                    <a:pt x="714846" y="124324"/>
                    <a:pt x="705893" y="133278"/>
                  </a:cubicBezTo>
                  <a:cubicBezTo>
                    <a:pt x="696939" y="142231"/>
                    <a:pt x="684796" y="147261"/>
                    <a:pt x="672134" y="147261"/>
                  </a:cubicBezTo>
                  <a:lnTo>
                    <a:pt x="47743" y="147261"/>
                  </a:lnTo>
                  <a:cubicBezTo>
                    <a:pt x="35080" y="147261"/>
                    <a:pt x="22937" y="142231"/>
                    <a:pt x="13983" y="133278"/>
                  </a:cubicBezTo>
                  <a:cubicBezTo>
                    <a:pt x="5030" y="124324"/>
                    <a:pt x="0" y="112181"/>
                    <a:pt x="0" y="99519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719876" cy="204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Poornima Liyanage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485561" y="7999818"/>
            <a:ext cx="3081034" cy="630272"/>
            <a:chOff x="0" y="0"/>
            <a:chExt cx="719876" cy="14726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19876" cy="147261"/>
            </a:xfrm>
            <a:custGeom>
              <a:avLst/>
              <a:gdLst/>
              <a:ahLst/>
              <a:cxnLst/>
              <a:rect l="l" t="t" r="r" b="b"/>
              <a:pathLst>
                <a:path w="719876" h="147261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9519"/>
                  </a:lnTo>
                  <a:cubicBezTo>
                    <a:pt x="719876" y="112181"/>
                    <a:pt x="714846" y="124324"/>
                    <a:pt x="705893" y="133278"/>
                  </a:cubicBezTo>
                  <a:cubicBezTo>
                    <a:pt x="696939" y="142231"/>
                    <a:pt x="684796" y="147261"/>
                    <a:pt x="672134" y="147261"/>
                  </a:cubicBezTo>
                  <a:lnTo>
                    <a:pt x="47743" y="147261"/>
                  </a:lnTo>
                  <a:cubicBezTo>
                    <a:pt x="35080" y="147261"/>
                    <a:pt x="22937" y="142231"/>
                    <a:pt x="13983" y="133278"/>
                  </a:cubicBezTo>
                  <a:cubicBezTo>
                    <a:pt x="5030" y="124324"/>
                    <a:pt x="0" y="112181"/>
                    <a:pt x="0" y="99519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57150"/>
              <a:ext cx="719876" cy="204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Durangi Abeykoon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60793" y="7999818"/>
            <a:ext cx="3081034" cy="630272"/>
            <a:chOff x="0" y="0"/>
            <a:chExt cx="719876" cy="14726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19876" cy="147261"/>
            </a:xfrm>
            <a:custGeom>
              <a:avLst/>
              <a:gdLst/>
              <a:ahLst/>
              <a:cxnLst/>
              <a:rect l="l" t="t" r="r" b="b"/>
              <a:pathLst>
                <a:path w="719876" h="147261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9519"/>
                  </a:lnTo>
                  <a:cubicBezTo>
                    <a:pt x="719876" y="112181"/>
                    <a:pt x="714846" y="124324"/>
                    <a:pt x="705893" y="133278"/>
                  </a:cubicBezTo>
                  <a:cubicBezTo>
                    <a:pt x="696939" y="142231"/>
                    <a:pt x="684796" y="147261"/>
                    <a:pt x="672134" y="147261"/>
                  </a:cubicBezTo>
                  <a:lnTo>
                    <a:pt x="47743" y="147261"/>
                  </a:lnTo>
                  <a:cubicBezTo>
                    <a:pt x="35080" y="147261"/>
                    <a:pt x="22937" y="142231"/>
                    <a:pt x="13983" y="133278"/>
                  </a:cubicBezTo>
                  <a:cubicBezTo>
                    <a:pt x="5030" y="124324"/>
                    <a:pt x="0" y="112181"/>
                    <a:pt x="0" y="99519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57150"/>
              <a:ext cx="719876" cy="2044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2600"/>
                </a:lnSpc>
                <a:spcBef>
                  <a:spcPct val="0"/>
                </a:spcBef>
              </a:pPr>
              <a:r>
                <a:rPr lang="en-US" sz="2000" spc="84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Lahiruni Ariyawansha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85548" y="-86278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120351" y="72009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3" y="0"/>
                </a:lnTo>
                <a:lnTo>
                  <a:pt x="692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715492" y="-40886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673366" y="2839552"/>
            <a:ext cx="12097505" cy="408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8"/>
              </a:lnSpc>
            </a:pPr>
            <a:r>
              <a:rPr lang="en-US" sz="899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Why did we choose this topic?</a:t>
            </a:r>
          </a:p>
          <a:p>
            <a:pPr algn="l">
              <a:lnSpc>
                <a:spcPts val="10788"/>
              </a:lnSpc>
            </a:pPr>
            <a:endParaRPr lang="en-US" sz="8990">
              <a:solidFill>
                <a:srgbClr val="FFFFFF"/>
              </a:solidFill>
              <a:latin typeface="Pattanakarn"/>
              <a:ea typeface="Pattanakarn"/>
              <a:cs typeface="Pattanakarn"/>
              <a:sym typeface="Pattanakarn"/>
            </a:endParaRPr>
          </a:p>
        </p:txBody>
      </p:sp>
      <p:sp>
        <p:nvSpPr>
          <p:cNvPr id="7" name="Freeform 7"/>
          <p:cNvSpPr/>
          <p:nvPr/>
        </p:nvSpPr>
        <p:spPr>
          <a:xfrm rot="-2700000">
            <a:off x="-3532589" y="-824990"/>
            <a:ext cx="10204385" cy="6060389"/>
          </a:xfrm>
          <a:custGeom>
            <a:avLst/>
            <a:gdLst/>
            <a:ahLst/>
            <a:cxnLst/>
            <a:rect l="l" t="t" r="r" b="b"/>
            <a:pathLst>
              <a:path w="10204385" h="6060389">
                <a:moveTo>
                  <a:pt x="0" y="0"/>
                </a:moveTo>
                <a:lnTo>
                  <a:pt x="10204385" y="0"/>
                </a:lnTo>
                <a:lnTo>
                  <a:pt x="10204385" y="6060389"/>
                </a:lnTo>
                <a:lnTo>
                  <a:pt x="0" y="60603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416465" y="879937"/>
            <a:ext cx="7453924" cy="9407063"/>
          </a:xfrm>
          <a:custGeom>
            <a:avLst/>
            <a:gdLst/>
            <a:ahLst/>
            <a:cxnLst/>
            <a:rect l="l" t="t" r="r" b="b"/>
            <a:pathLst>
              <a:path w="7453924" h="9407063">
                <a:moveTo>
                  <a:pt x="0" y="0"/>
                </a:moveTo>
                <a:lnTo>
                  <a:pt x="7453924" y="0"/>
                </a:lnTo>
                <a:lnTo>
                  <a:pt x="7453924" y="9407063"/>
                </a:lnTo>
                <a:lnTo>
                  <a:pt x="0" y="94070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46518" t="-3109" r="-1373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045744" y="-4667569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9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485441" y="-881056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6">
              <a:alphaModFix amt="6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415987">
            <a:off x="296401" y="7552637"/>
            <a:ext cx="9208152" cy="5468726"/>
          </a:xfrm>
          <a:custGeom>
            <a:avLst/>
            <a:gdLst/>
            <a:ahLst/>
            <a:cxnLst/>
            <a:rect l="l" t="t" r="r" b="b"/>
            <a:pathLst>
              <a:path w="9208152" h="5468726">
                <a:moveTo>
                  <a:pt x="0" y="0"/>
                </a:moveTo>
                <a:lnTo>
                  <a:pt x="9208152" y="0"/>
                </a:lnTo>
                <a:lnTo>
                  <a:pt x="9208152" y="5468726"/>
                </a:lnTo>
                <a:lnTo>
                  <a:pt x="0" y="54687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655079">
            <a:off x="4246030" y="4493310"/>
            <a:ext cx="4615457" cy="5156067"/>
          </a:xfrm>
          <a:custGeom>
            <a:avLst/>
            <a:gdLst/>
            <a:ahLst/>
            <a:cxnLst/>
            <a:rect l="l" t="t" r="r" b="b"/>
            <a:pathLst>
              <a:path w="4615457" h="5156067">
                <a:moveTo>
                  <a:pt x="0" y="0"/>
                </a:moveTo>
                <a:lnTo>
                  <a:pt x="4615457" y="0"/>
                </a:lnTo>
                <a:lnTo>
                  <a:pt x="4615457" y="5156067"/>
                </a:lnTo>
                <a:lnTo>
                  <a:pt x="0" y="51560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9871526" y="1028700"/>
            <a:ext cx="7387774" cy="1737476"/>
            <a:chOff x="0" y="0"/>
            <a:chExt cx="1945751" cy="45760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45751" cy="457607"/>
            </a:xfrm>
            <a:custGeom>
              <a:avLst/>
              <a:gdLst/>
              <a:ahLst/>
              <a:cxnLst/>
              <a:rect l="l" t="t" r="r" b="b"/>
              <a:pathLst>
                <a:path w="1945751" h="457607">
                  <a:moveTo>
                    <a:pt x="29342" y="0"/>
                  </a:moveTo>
                  <a:lnTo>
                    <a:pt x="1916409" y="0"/>
                  </a:lnTo>
                  <a:cubicBezTo>
                    <a:pt x="1924191" y="0"/>
                    <a:pt x="1931654" y="3091"/>
                    <a:pt x="1937157" y="8594"/>
                  </a:cubicBezTo>
                  <a:cubicBezTo>
                    <a:pt x="1942660" y="14097"/>
                    <a:pt x="1945751" y="21560"/>
                    <a:pt x="1945751" y="29342"/>
                  </a:cubicBezTo>
                  <a:lnTo>
                    <a:pt x="1945751" y="428265"/>
                  </a:lnTo>
                  <a:cubicBezTo>
                    <a:pt x="1945751" y="436047"/>
                    <a:pt x="1942660" y="443510"/>
                    <a:pt x="1937157" y="449013"/>
                  </a:cubicBezTo>
                  <a:cubicBezTo>
                    <a:pt x="1931654" y="454515"/>
                    <a:pt x="1924191" y="457607"/>
                    <a:pt x="1916409" y="457607"/>
                  </a:cubicBezTo>
                  <a:lnTo>
                    <a:pt x="29342" y="457607"/>
                  </a:lnTo>
                  <a:cubicBezTo>
                    <a:pt x="21560" y="457607"/>
                    <a:pt x="14097" y="454515"/>
                    <a:pt x="8594" y="449013"/>
                  </a:cubicBezTo>
                  <a:cubicBezTo>
                    <a:pt x="3091" y="443510"/>
                    <a:pt x="0" y="436047"/>
                    <a:pt x="0" y="428265"/>
                  </a:cubicBezTo>
                  <a:lnTo>
                    <a:pt x="0" y="29342"/>
                  </a:lnTo>
                  <a:cubicBezTo>
                    <a:pt x="0" y="21560"/>
                    <a:pt x="3091" y="14097"/>
                    <a:pt x="8594" y="8594"/>
                  </a:cubicBezTo>
                  <a:cubicBezTo>
                    <a:pt x="14097" y="3091"/>
                    <a:pt x="21560" y="0"/>
                    <a:pt x="29342" y="0"/>
                  </a:cubicBezTo>
                  <a:close/>
                </a:path>
              </a:pathLst>
            </a:custGeom>
            <a:solidFill>
              <a:srgbClr val="81B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47625"/>
              <a:ext cx="1945751" cy="4099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871526" y="3262492"/>
            <a:ext cx="7387774" cy="1778015"/>
            <a:chOff x="0" y="0"/>
            <a:chExt cx="1945751" cy="4682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45751" cy="468284"/>
            </a:xfrm>
            <a:custGeom>
              <a:avLst/>
              <a:gdLst/>
              <a:ahLst/>
              <a:cxnLst/>
              <a:rect l="l" t="t" r="r" b="b"/>
              <a:pathLst>
                <a:path w="1945751" h="468284">
                  <a:moveTo>
                    <a:pt x="29342" y="0"/>
                  </a:moveTo>
                  <a:lnTo>
                    <a:pt x="1916409" y="0"/>
                  </a:lnTo>
                  <a:cubicBezTo>
                    <a:pt x="1924191" y="0"/>
                    <a:pt x="1931654" y="3091"/>
                    <a:pt x="1937157" y="8594"/>
                  </a:cubicBezTo>
                  <a:cubicBezTo>
                    <a:pt x="1942660" y="14097"/>
                    <a:pt x="1945751" y="21560"/>
                    <a:pt x="1945751" y="29342"/>
                  </a:cubicBezTo>
                  <a:lnTo>
                    <a:pt x="1945751" y="438942"/>
                  </a:lnTo>
                  <a:cubicBezTo>
                    <a:pt x="1945751" y="446724"/>
                    <a:pt x="1942660" y="454187"/>
                    <a:pt x="1937157" y="459690"/>
                  </a:cubicBezTo>
                  <a:cubicBezTo>
                    <a:pt x="1931654" y="465192"/>
                    <a:pt x="1924191" y="468284"/>
                    <a:pt x="1916409" y="468284"/>
                  </a:cubicBezTo>
                  <a:lnTo>
                    <a:pt x="29342" y="468284"/>
                  </a:lnTo>
                  <a:cubicBezTo>
                    <a:pt x="21560" y="468284"/>
                    <a:pt x="14097" y="465192"/>
                    <a:pt x="8594" y="459690"/>
                  </a:cubicBezTo>
                  <a:cubicBezTo>
                    <a:pt x="3091" y="454187"/>
                    <a:pt x="0" y="446724"/>
                    <a:pt x="0" y="438942"/>
                  </a:cubicBezTo>
                  <a:lnTo>
                    <a:pt x="0" y="29342"/>
                  </a:lnTo>
                  <a:cubicBezTo>
                    <a:pt x="0" y="21560"/>
                    <a:pt x="3091" y="14097"/>
                    <a:pt x="8594" y="8594"/>
                  </a:cubicBezTo>
                  <a:cubicBezTo>
                    <a:pt x="14097" y="3091"/>
                    <a:pt x="21560" y="0"/>
                    <a:pt x="29342" y="0"/>
                  </a:cubicBezTo>
                  <a:close/>
                </a:path>
              </a:pathLst>
            </a:custGeom>
            <a:solidFill>
              <a:srgbClr val="81B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7625"/>
              <a:ext cx="1945751" cy="4206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871526" y="5516757"/>
            <a:ext cx="7387774" cy="1765751"/>
            <a:chOff x="0" y="0"/>
            <a:chExt cx="1945751" cy="46505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945751" cy="465054"/>
            </a:xfrm>
            <a:custGeom>
              <a:avLst/>
              <a:gdLst/>
              <a:ahLst/>
              <a:cxnLst/>
              <a:rect l="l" t="t" r="r" b="b"/>
              <a:pathLst>
                <a:path w="1945751" h="465054">
                  <a:moveTo>
                    <a:pt x="29342" y="0"/>
                  </a:moveTo>
                  <a:lnTo>
                    <a:pt x="1916409" y="0"/>
                  </a:lnTo>
                  <a:cubicBezTo>
                    <a:pt x="1924191" y="0"/>
                    <a:pt x="1931654" y="3091"/>
                    <a:pt x="1937157" y="8594"/>
                  </a:cubicBezTo>
                  <a:cubicBezTo>
                    <a:pt x="1942660" y="14097"/>
                    <a:pt x="1945751" y="21560"/>
                    <a:pt x="1945751" y="29342"/>
                  </a:cubicBezTo>
                  <a:lnTo>
                    <a:pt x="1945751" y="435711"/>
                  </a:lnTo>
                  <a:cubicBezTo>
                    <a:pt x="1945751" y="443494"/>
                    <a:pt x="1942660" y="450957"/>
                    <a:pt x="1937157" y="456460"/>
                  </a:cubicBezTo>
                  <a:cubicBezTo>
                    <a:pt x="1931654" y="461962"/>
                    <a:pt x="1924191" y="465054"/>
                    <a:pt x="1916409" y="465054"/>
                  </a:cubicBezTo>
                  <a:lnTo>
                    <a:pt x="29342" y="465054"/>
                  </a:lnTo>
                  <a:cubicBezTo>
                    <a:pt x="21560" y="465054"/>
                    <a:pt x="14097" y="461962"/>
                    <a:pt x="8594" y="456460"/>
                  </a:cubicBezTo>
                  <a:cubicBezTo>
                    <a:pt x="3091" y="450957"/>
                    <a:pt x="0" y="443494"/>
                    <a:pt x="0" y="435711"/>
                  </a:cubicBezTo>
                  <a:lnTo>
                    <a:pt x="0" y="29342"/>
                  </a:lnTo>
                  <a:cubicBezTo>
                    <a:pt x="0" y="21560"/>
                    <a:pt x="3091" y="14097"/>
                    <a:pt x="8594" y="8594"/>
                  </a:cubicBezTo>
                  <a:cubicBezTo>
                    <a:pt x="14097" y="3091"/>
                    <a:pt x="21560" y="0"/>
                    <a:pt x="29342" y="0"/>
                  </a:cubicBezTo>
                  <a:close/>
                </a:path>
              </a:pathLst>
            </a:custGeom>
            <a:solidFill>
              <a:srgbClr val="81B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7625"/>
              <a:ext cx="1945751" cy="4174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871526" y="7758758"/>
            <a:ext cx="7387774" cy="1765769"/>
            <a:chOff x="0" y="0"/>
            <a:chExt cx="1945751" cy="4650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945751" cy="465058"/>
            </a:xfrm>
            <a:custGeom>
              <a:avLst/>
              <a:gdLst/>
              <a:ahLst/>
              <a:cxnLst/>
              <a:rect l="l" t="t" r="r" b="b"/>
              <a:pathLst>
                <a:path w="1945751" h="465058">
                  <a:moveTo>
                    <a:pt x="29342" y="0"/>
                  </a:moveTo>
                  <a:lnTo>
                    <a:pt x="1916409" y="0"/>
                  </a:lnTo>
                  <a:cubicBezTo>
                    <a:pt x="1924191" y="0"/>
                    <a:pt x="1931654" y="3091"/>
                    <a:pt x="1937157" y="8594"/>
                  </a:cubicBezTo>
                  <a:cubicBezTo>
                    <a:pt x="1942660" y="14097"/>
                    <a:pt x="1945751" y="21560"/>
                    <a:pt x="1945751" y="29342"/>
                  </a:cubicBezTo>
                  <a:lnTo>
                    <a:pt x="1945751" y="435716"/>
                  </a:lnTo>
                  <a:cubicBezTo>
                    <a:pt x="1945751" y="443498"/>
                    <a:pt x="1942660" y="450962"/>
                    <a:pt x="1937157" y="456464"/>
                  </a:cubicBezTo>
                  <a:cubicBezTo>
                    <a:pt x="1931654" y="461967"/>
                    <a:pt x="1924191" y="465058"/>
                    <a:pt x="1916409" y="465058"/>
                  </a:cubicBezTo>
                  <a:lnTo>
                    <a:pt x="29342" y="465058"/>
                  </a:lnTo>
                  <a:cubicBezTo>
                    <a:pt x="21560" y="465058"/>
                    <a:pt x="14097" y="461967"/>
                    <a:pt x="8594" y="456464"/>
                  </a:cubicBezTo>
                  <a:cubicBezTo>
                    <a:pt x="3091" y="450962"/>
                    <a:pt x="0" y="443498"/>
                    <a:pt x="0" y="435716"/>
                  </a:cubicBezTo>
                  <a:lnTo>
                    <a:pt x="0" y="29342"/>
                  </a:lnTo>
                  <a:cubicBezTo>
                    <a:pt x="0" y="21560"/>
                    <a:pt x="3091" y="14097"/>
                    <a:pt x="8594" y="8594"/>
                  </a:cubicBezTo>
                  <a:cubicBezTo>
                    <a:pt x="14097" y="3091"/>
                    <a:pt x="21560" y="0"/>
                    <a:pt x="29342" y="0"/>
                  </a:cubicBezTo>
                  <a:close/>
                </a:path>
              </a:pathLst>
            </a:custGeom>
            <a:solidFill>
              <a:srgbClr val="81B6F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1945751" cy="41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76775" y="1119958"/>
            <a:ext cx="703243" cy="70324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07987" y="1085850"/>
            <a:ext cx="7338197" cy="335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99"/>
              </a:lnSpc>
            </a:pPr>
            <a:r>
              <a:rPr lang="en-US" sz="11478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Why this Topic?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21071" y="1327150"/>
            <a:ext cx="6082894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415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Core to modern AI assistants (ChatGPT, Bard, Copilot).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97271" y="3642741"/>
            <a:ext cx="6082894" cy="1038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415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Important research area in NLP &amp; industry.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421071" y="5877201"/>
            <a:ext cx="6082894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415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Helps us understand how to adapt AI to tasks.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23966" y="8044508"/>
            <a:ext cx="6082894" cy="1066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0415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Relevant to both research and real-world applications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9576775" y="3376845"/>
            <a:ext cx="703243" cy="7032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576775" y="5762374"/>
            <a:ext cx="703243" cy="703243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76775" y="7873058"/>
            <a:ext cx="703243" cy="703243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798448" y="1226784"/>
            <a:ext cx="259895" cy="4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  <a:spcBef>
                <a:spcPct val="0"/>
              </a:spcBef>
            </a:pPr>
            <a:r>
              <a:rPr lang="en-US" sz="2488" b="1">
                <a:solidFill>
                  <a:srgbClr val="0415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1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798448" y="3483671"/>
            <a:ext cx="259895" cy="4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  <a:spcBef>
                <a:spcPct val="0"/>
              </a:spcBef>
            </a:pPr>
            <a:r>
              <a:rPr lang="en-US" sz="2488" b="1">
                <a:solidFill>
                  <a:srgbClr val="0415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798448" y="5857097"/>
            <a:ext cx="259895" cy="4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  <a:spcBef>
                <a:spcPct val="0"/>
              </a:spcBef>
            </a:pPr>
            <a:r>
              <a:rPr lang="en-US" sz="2488" b="1">
                <a:solidFill>
                  <a:srgbClr val="0415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98448" y="7979883"/>
            <a:ext cx="259895" cy="432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  <a:spcBef>
                <a:spcPct val="0"/>
              </a:spcBef>
            </a:pPr>
            <a:r>
              <a:rPr lang="en-US" sz="2488" b="1">
                <a:solidFill>
                  <a:srgbClr val="04153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830" y="7399123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7"/>
                </a:lnTo>
                <a:lnTo>
                  <a:pt x="0" y="4258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25756">
            <a:off x="11452918" y="7564254"/>
            <a:ext cx="8020168" cy="4763181"/>
          </a:xfrm>
          <a:custGeom>
            <a:avLst/>
            <a:gdLst/>
            <a:ahLst/>
            <a:cxnLst/>
            <a:rect l="l" t="t" r="r" b="b"/>
            <a:pathLst>
              <a:path w="8020168" h="4763181">
                <a:moveTo>
                  <a:pt x="0" y="0"/>
                </a:moveTo>
                <a:lnTo>
                  <a:pt x="8020168" y="0"/>
                </a:lnTo>
                <a:lnTo>
                  <a:pt x="8020168" y="4763182"/>
                </a:lnTo>
                <a:lnTo>
                  <a:pt x="0" y="4763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485548" y="-128053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255213">
            <a:off x="12153868" y="2183483"/>
            <a:ext cx="7075643" cy="5817581"/>
          </a:xfrm>
          <a:custGeom>
            <a:avLst/>
            <a:gdLst/>
            <a:ahLst/>
            <a:cxnLst/>
            <a:rect l="l" t="t" r="r" b="b"/>
            <a:pathLst>
              <a:path w="7075643" h="5817581">
                <a:moveTo>
                  <a:pt x="0" y="0"/>
                </a:moveTo>
                <a:lnTo>
                  <a:pt x="7075643" y="0"/>
                </a:lnTo>
                <a:lnTo>
                  <a:pt x="7075643" y="5817581"/>
                </a:lnTo>
                <a:lnTo>
                  <a:pt x="0" y="58175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3650550" y="-2714504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733758">
            <a:off x="9535863" y="143137"/>
            <a:ext cx="3899198" cy="4117596"/>
          </a:xfrm>
          <a:custGeom>
            <a:avLst/>
            <a:gdLst/>
            <a:ahLst/>
            <a:cxnLst/>
            <a:rect l="l" t="t" r="r" b="b"/>
            <a:pathLst>
              <a:path w="3899198" h="4117596">
                <a:moveTo>
                  <a:pt x="0" y="0"/>
                </a:moveTo>
                <a:lnTo>
                  <a:pt x="3899198" y="0"/>
                </a:lnTo>
                <a:lnTo>
                  <a:pt x="3899198" y="4117595"/>
                </a:lnTo>
                <a:lnTo>
                  <a:pt x="0" y="4117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35448" y="5495710"/>
            <a:ext cx="16250375" cy="1416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50"/>
              </a:lnSpc>
            </a:pPr>
            <a:r>
              <a:rPr lang="en-US" sz="11000">
                <a:solidFill>
                  <a:srgbClr val="FAF7F4"/>
                </a:solidFill>
                <a:latin typeface="Pattanakarn"/>
                <a:ea typeface="Pattanakarn"/>
                <a:cs typeface="Pattanakarn"/>
                <a:sym typeface="Pattanakarn"/>
              </a:rPr>
              <a:t>Inroduction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362" y="-1058517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312313" y="-77131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58104" y="3631277"/>
            <a:ext cx="17771791" cy="5925733"/>
          </a:xfrm>
          <a:custGeom>
            <a:avLst/>
            <a:gdLst/>
            <a:ahLst/>
            <a:cxnLst/>
            <a:rect l="l" t="t" r="r" b="b"/>
            <a:pathLst>
              <a:path w="17771791" h="5925733">
                <a:moveTo>
                  <a:pt x="0" y="0"/>
                </a:moveTo>
                <a:lnTo>
                  <a:pt x="17771792" y="0"/>
                </a:lnTo>
                <a:lnTo>
                  <a:pt x="17771792" y="5925733"/>
                </a:lnTo>
                <a:lnTo>
                  <a:pt x="0" y="5925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675890" y="82296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4" y="0"/>
                </a:lnTo>
                <a:lnTo>
                  <a:pt x="6928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257329" y="1114425"/>
            <a:ext cx="15416799" cy="3531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22"/>
              </a:lnSpc>
            </a:pPr>
            <a:r>
              <a:rPr lang="en-US" sz="12232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What is a pretrained model?</a:t>
            </a:r>
          </a:p>
        </p:txBody>
      </p:sp>
      <p:sp>
        <p:nvSpPr>
          <p:cNvPr id="8" name="Freeform 8"/>
          <p:cNvSpPr/>
          <p:nvPr/>
        </p:nvSpPr>
        <p:spPr>
          <a:xfrm>
            <a:off x="13627599" y="58847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-3661078" y="608932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733758">
            <a:off x="7016130" y="5073160"/>
            <a:ext cx="3899198" cy="4117596"/>
          </a:xfrm>
          <a:custGeom>
            <a:avLst/>
            <a:gdLst/>
            <a:ahLst/>
            <a:cxnLst/>
            <a:rect l="l" t="t" r="r" b="b"/>
            <a:pathLst>
              <a:path w="3899198" h="4117596">
                <a:moveTo>
                  <a:pt x="0" y="0"/>
                </a:moveTo>
                <a:lnTo>
                  <a:pt x="3899198" y="0"/>
                </a:lnTo>
                <a:lnTo>
                  <a:pt x="3899198" y="4117595"/>
                </a:lnTo>
                <a:lnTo>
                  <a:pt x="0" y="411759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85548" y="-86278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120351" y="72009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3" y="0"/>
                </a:lnTo>
                <a:lnTo>
                  <a:pt x="692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354390" y="4281538"/>
            <a:ext cx="4270442" cy="4509633"/>
          </a:xfrm>
          <a:custGeom>
            <a:avLst/>
            <a:gdLst/>
            <a:ahLst/>
            <a:cxnLst/>
            <a:rect l="l" t="t" r="r" b="b"/>
            <a:pathLst>
              <a:path w="4270442" h="4509633">
                <a:moveTo>
                  <a:pt x="0" y="0"/>
                </a:moveTo>
                <a:lnTo>
                  <a:pt x="4270442" y="0"/>
                </a:lnTo>
                <a:lnTo>
                  <a:pt x="4270442" y="4509633"/>
                </a:lnTo>
                <a:lnTo>
                  <a:pt x="0" y="45096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715492" y="-40886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72044" y="1581260"/>
            <a:ext cx="12097505" cy="1362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8"/>
              </a:lnSpc>
            </a:pPr>
            <a:r>
              <a:rPr lang="en-US" sz="899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Pretrained Model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9604" y="4146610"/>
            <a:ext cx="10986496" cy="36783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3817" b="1">
                <a:solidFill>
                  <a:srgbClr val="FAF7F4"/>
                </a:solidFill>
                <a:latin typeface="Lato Bold"/>
                <a:ea typeface="Lato Bold"/>
                <a:cs typeface="Lato Bold"/>
                <a:sym typeface="Lato Bold"/>
              </a:rPr>
              <a:t>A pretrained model is a neural network (e.g., LLM like GPT or BERT) trained on massive general datasets to learn broad patterns, language structures, and knowledge before task-specific use.</a:t>
            </a:r>
          </a:p>
        </p:txBody>
      </p:sp>
      <p:sp>
        <p:nvSpPr>
          <p:cNvPr id="9" name="Freeform 9"/>
          <p:cNvSpPr/>
          <p:nvPr/>
        </p:nvSpPr>
        <p:spPr>
          <a:xfrm rot="-2700000">
            <a:off x="-3532589" y="-824990"/>
            <a:ext cx="10204385" cy="6060389"/>
          </a:xfrm>
          <a:custGeom>
            <a:avLst/>
            <a:gdLst/>
            <a:ahLst/>
            <a:cxnLst/>
            <a:rect l="l" t="t" r="r" b="b"/>
            <a:pathLst>
              <a:path w="10204385" h="6060389">
                <a:moveTo>
                  <a:pt x="0" y="0"/>
                </a:moveTo>
                <a:lnTo>
                  <a:pt x="10204385" y="0"/>
                </a:lnTo>
                <a:lnTo>
                  <a:pt x="10204385" y="6060389"/>
                </a:lnTo>
                <a:lnTo>
                  <a:pt x="0" y="60603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6204" y="1256616"/>
            <a:ext cx="15355591" cy="7773768"/>
          </a:xfrm>
          <a:custGeom>
            <a:avLst/>
            <a:gdLst/>
            <a:ahLst/>
            <a:cxnLst/>
            <a:rect l="l" t="t" r="r" b="b"/>
            <a:pathLst>
              <a:path w="15355591" h="7773768">
                <a:moveTo>
                  <a:pt x="0" y="0"/>
                </a:moveTo>
                <a:lnTo>
                  <a:pt x="15355592" y="0"/>
                </a:lnTo>
                <a:lnTo>
                  <a:pt x="15355592" y="7773768"/>
                </a:lnTo>
                <a:lnTo>
                  <a:pt x="0" y="77737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74321" y="536667"/>
            <a:ext cx="11301259" cy="6046174"/>
          </a:xfrm>
          <a:custGeom>
            <a:avLst/>
            <a:gdLst/>
            <a:ahLst/>
            <a:cxnLst/>
            <a:rect l="l" t="t" r="r" b="b"/>
            <a:pathLst>
              <a:path w="11301259" h="6046174">
                <a:moveTo>
                  <a:pt x="0" y="0"/>
                </a:moveTo>
                <a:lnTo>
                  <a:pt x="11301258" y="0"/>
                </a:lnTo>
                <a:lnTo>
                  <a:pt x="11301258" y="6046174"/>
                </a:lnTo>
                <a:lnTo>
                  <a:pt x="0" y="60461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3455271" y="6116664"/>
            <a:ext cx="11301259" cy="932354"/>
          </a:xfrm>
          <a:custGeom>
            <a:avLst/>
            <a:gdLst/>
            <a:ahLst/>
            <a:cxnLst/>
            <a:rect l="l" t="t" r="r" b="b"/>
            <a:pathLst>
              <a:path w="11301259" h="932354">
                <a:moveTo>
                  <a:pt x="0" y="0"/>
                </a:moveTo>
                <a:lnTo>
                  <a:pt x="11301258" y="0"/>
                </a:lnTo>
                <a:lnTo>
                  <a:pt x="11301258" y="932353"/>
                </a:lnTo>
                <a:lnTo>
                  <a:pt x="0" y="9323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483846" y="6833304"/>
            <a:ext cx="11301259" cy="3079593"/>
          </a:xfrm>
          <a:custGeom>
            <a:avLst/>
            <a:gdLst/>
            <a:ahLst/>
            <a:cxnLst/>
            <a:rect l="l" t="t" r="r" b="b"/>
            <a:pathLst>
              <a:path w="11301259" h="3079593">
                <a:moveTo>
                  <a:pt x="0" y="0"/>
                </a:moveTo>
                <a:lnTo>
                  <a:pt x="11301258" y="0"/>
                </a:lnTo>
                <a:lnTo>
                  <a:pt x="11301258" y="3079593"/>
                </a:lnTo>
                <a:lnTo>
                  <a:pt x="0" y="3079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6050280" y="2876459"/>
            <a:ext cx="6244898" cy="0"/>
          </a:xfrm>
          <a:prstGeom prst="line">
            <a:avLst/>
          </a:prstGeom>
          <a:ln w="38100" cap="flat">
            <a:solidFill>
              <a:srgbClr val="FF363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H="1">
            <a:off x="6452172" y="2876459"/>
            <a:ext cx="11243" cy="305444"/>
          </a:xfrm>
          <a:prstGeom prst="line">
            <a:avLst/>
          </a:prstGeom>
          <a:ln w="38100" cap="flat">
            <a:solidFill>
              <a:srgbClr val="FF3636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H="1">
            <a:off x="11899942" y="2877160"/>
            <a:ext cx="11243" cy="305444"/>
          </a:xfrm>
          <a:prstGeom prst="line">
            <a:avLst/>
          </a:prstGeom>
          <a:ln w="38100" cap="flat">
            <a:solidFill>
              <a:srgbClr val="FF3636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256719" y="6833304"/>
            <a:ext cx="2857414" cy="3398160"/>
          </a:xfrm>
          <a:custGeom>
            <a:avLst/>
            <a:gdLst/>
            <a:ahLst/>
            <a:cxnLst/>
            <a:rect l="l" t="t" r="r" b="b"/>
            <a:pathLst>
              <a:path w="2857414" h="3398160">
                <a:moveTo>
                  <a:pt x="0" y="0"/>
                </a:moveTo>
                <a:lnTo>
                  <a:pt x="2857415" y="0"/>
                </a:lnTo>
                <a:lnTo>
                  <a:pt x="2857415" y="3398160"/>
                </a:lnTo>
                <a:lnTo>
                  <a:pt x="0" y="339816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830" y="7399123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7"/>
                </a:lnTo>
                <a:lnTo>
                  <a:pt x="0" y="4258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625756">
            <a:off x="11452918" y="7564254"/>
            <a:ext cx="8020168" cy="4763181"/>
          </a:xfrm>
          <a:custGeom>
            <a:avLst/>
            <a:gdLst/>
            <a:ahLst/>
            <a:cxnLst/>
            <a:rect l="l" t="t" r="r" b="b"/>
            <a:pathLst>
              <a:path w="8020168" h="4763181">
                <a:moveTo>
                  <a:pt x="0" y="0"/>
                </a:moveTo>
                <a:lnTo>
                  <a:pt x="8020168" y="0"/>
                </a:lnTo>
                <a:lnTo>
                  <a:pt x="8020168" y="4763182"/>
                </a:lnTo>
                <a:lnTo>
                  <a:pt x="0" y="47631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485548" y="-128053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3650550" y="-2714504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6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733758">
            <a:off x="-920899" y="-371005"/>
            <a:ext cx="3899198" cy="4117596"/>
          </a:xfrm>
          <a:custGeom>
            <a:avLst/>
            <a:gdLst/>
            <a:ahLst/>
            <a:cxnLst/>
            <a:rect l="l" t="t" r="r" b="b"/>
            <a:pathLst>
              <a:path w="3899198" h="4117596">
                <a:moveTo>
                  <a:pt x="0" y="0"/>
                </a:moveTo>
                <a:lnTo>
                  <a:pt x="3899198" y="0"/>
                </a:lnTo>
                <a:lnTo>
                  <a:pt x="3899198" y="4117596"/>
                </a:lnTo>
                <a:lnTo>
                  <a:pt x="0" y="41175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/>
          <p:nvPr/>
        </p:nvGrpSpPr>
        <p:grpSpPr>
          <a:xfrm>
            <a:off x="3657584" y="1264793"/>
            <a:ext cx="3975856" cy="1920418"/>
            <a:chOff x="0" y="0"/>
            <a:chExt cx="1047139" cy="505789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47139" cy="505789"/>
            </a:xfrm>
            <a:custGeom>
              <a:avLst/>
              <a:gdLst/>
              <a:ahLst/>
              <a:cxnLst/>
              <a:rect l="l" t="t" r="r" b="b"/>
              <a:pathLst>
                <a:path w="1047139" h="505789">
                  <a:moveTo>
                    <a:pt x="99309" y="0"/>
                  </a:moveTo>
                  <a:lnTo>
                    <a:pt x="947830" y="0"/>
                  </a:lnTo>
                  <a:cubicBezTo>
                    <a:pt x="1002677" y="0"/>
                    <a:pt x="1047139" y="44462"/>
                    <a:pt x="1047139" y="99309"/>
                  </a:cubicBezTo>
                  <a:lnTo>
                    <a:pt x="1047139" y="406480"/>
                  </a:lnTo>
                  <a:cubicBezTo>
                    <a:pt x="1047139" y="461327"/>
                    <a:pt x="1002677" y="505789"/>
                    <a:pt x="947830" y="505789"/>
                  </a:cubicBezTo>
                  <a:lnTo>
                    <a:pt x="99309" y="505789"/>
                  </a:lnTo>
                  <a:cubicBezTo>
                    <a:pt x="44462" y="505789"/>
                    <a:pt x="0" y="461327"/>
                    <a:pt x="0" y="406480"/>
                  </a:cubicBezTo>
                  <a:lnTo>
                    <a:pt x="0" y="99309"/>
                  </a:lnTo>
                  <a:cubicBezTo>
                    <a:pt x="0" y="44462"/>
                    <a:pt x="44462" y="0"/>
                    <a:pt x="99309" y="0"/>
                  </a:cubicBezTo>
                  <a:close/>
                </a:path>
              </a:pathLst>
            </a:custGeom>
            <a:solidFill>
              <a:srgbClr val="D7FDFF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7150"/>
              <a:ext cx="1047139" cy="4486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96"/>
                </a:lnSpc>
              </a:pPr>
              <a:r>
                <a:rPr lang="en-US" sz="2416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Base LLM</a:t>
              </a:r>
            </a:p>
            <a:p>
              <a:pPr algn="ctr">
                <a:lnSpc>
                  <a:spcPts val="2296"/>
                </a:lnSpc>
              </a:pPr>
              <a:r>
                <a:rPr lang="en-US" sz="2416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(All parameters)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765763" y="1264793"/>
            <a:ext cx="3975856" cy="1920418"/>
            <a:chOff x="0" y="0"/>
            <a:chExt cx="1047139" cy="5057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47139" cy="505789"/>
            </a:xfrm>
            <a:custGeom>
              <a:avLst/>
              <a:gdLst/>
              <a:ahLst/>
              <a:cxnLst/>
              <a:rect l="l" t="t" r="r" b="b"/>
              <a:pathLst>
                <a:path w="1047139" h="505789">
                  <a:moveTo>
                    <a:pt x="99309" y="0"/>
                  </a:moveTo>
                  <a:lnTo>
                    <a:pt x="947830" y="0"/>
                  </a:lnTo>
                  <a:cubicBezTo>
                    <a:pt x="1002677" y="0"/>
                    <a:pt x="1047139" y="44462"/>
                    <a:pt x="1047139" y="99309"/>
                  </a:cubicBezTo>
                  <a:lnTo>
                    <a:pt x="1047139" y="406480"/>
                  </a:lnTo>
                  <a:cubicBezTo>
                    <a:pt x="1047139" y="461327"/>
                    <a:pt x="1002677" y="505789"/>
                    <a:pt x="947830" y="505789"/>
                  </a:cubicBezTo>
                  <a:lnTo>
                    <a:pt x="99309" y="505789"/>
                  </a:lnTo>
                  <a:cubicBezTo>
                    <a:pt x="44462" y="505789"/>
                    <a:pt x="0" y="461327"/>
                    <a:pt x="0" y="406480"/>
                  </a:cubicBezTo>
                  <a:lnTo>
                    <a:pt x="0" y="99309"/>
                  </a:lnTo>
                  <a:cubicBezTo>
                    <a:pt x="0" y="44462"/>
                    <a:pt x="44462" y="0"/>
                    <a:pt x="99309" y="0"/>
                  </a:cubicBezTo>
                  <a:close/>
                </a:path>
              </a:pathLst>
            </a:custGeom>
            <a:solidFill>
              <a:srgbClr val="D7FDFF"/>
            </a:solidFill>
            <a:ln w="28575" cap="rnd">
              <a:solidFill>
                <a:srgbClr val="D7FD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47625"/>
              <a:ext cx="1047139" cy="45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Task Model</a:t>
              </a:r>
            </a:p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(All params update)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634926" y="4024870"/>
            <a:ext cx="3975856" cy="1920418"/>
            <a:chOff x="0" y="0"/>
            <a:chExt cx="1047139" cy="5057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47139" cy="505789"/>
            </a:xfrm>
            <a:custGeom>
              <a:avLst/>
              <a:gdLst/>
              <a:ahLst/>
              <a:cxnLst/>
              <a:rect l="l" t="t" r="r" b="b"/>
              <a:pathLst>
                <a:path w="1047139" h="505789">
                  <a:moveTo>
                    <a:pt x="99309" y="0"/>
                  </a:moveTo>
                  <a:lnTo>
                    <a:pt x="947830" y="0"/>
                  </a:lnTo>
                  <a:cubicBezTo>
                    <a:pt x="1002677" y="0"/>
                    <a:pt x="1047139" y="44462"/>
                    <a:pt x="1047139" y="99309"/>
                  </a:cubicBezTo>
                  <a:lnTo>
                    <a:pt x="1047139" y="406480"/>
                  </a:lnTo>
                  <a:cubicBezTo>
                    <a:pt x="1047139" y="461327"/>
                    <a:pt x="1002677" y="505789"/>
                    <a:pt x="947830" y="505789"/>
                  </a:cubicBezTo>
                  <a:lnTo>
                    <a:pt x="99309" y="505789"/>
                  </a:lnTo>
                  <a:cubicBezTo>
                    <a:pt x="44462" y="505789"/>
                    <a:pt x="0" y="461327"/>
                    <a:pt x="0" y="406480"/>
                  </a:cubicBezTo>
                  <a:lnTo>
                    <a:pt x="0" y="99309"/>
                  </a:lnTo>
                  <a:cubicBezTo>
                    <a:pt x="0" y="44462"/>
                    <a:pt x="44462" y="0"/>
                    <a:pt x="99309" y="0"/>
                  </a:cubicBezTo>
                  <a:close/>
                </a:path>
              </a:pathLst>
            </a:custGeom>
            <a:solidFill>
              <a:srgbClr val="81B6F8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47625"/>
              <a:ext cx="1047139" cy="45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Base LLM</a:t>
              </a:r>
            </a:p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(Frozen)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95505" y="3989020"/>
            <a:ext cx="3975856" cy="1920418"/>
            <a:chOff x="0" y="0"/>
            <a:chExt cx="1047139" cy="50578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47139" cy="505789"/>
            </a:xfrm>
            <a:custGeom>
              <a:avLst/>
              <a:gdLst/>
              <a:ahLst/>
              <a:cxnLst/>
              <a:rect l="l" t="t" r="r" b="b"/>
              <a:pathLst>
                <a:path w="1047139" h="505789">
                  <a:moveTo>
                    <a:pt x="99309" y="0"/>
                  </a:moveTo>
                  <a:lnTo>
                    <a:pt x="947830" y="0"/>
                  </a:lnTo>
                  <a:cubicBezTo>
                    <a:pt x="1002677" y="0"/>
                    <a:pt x="1047139" y="44462"/>
                    <a:pt x="1047139" y="99309"/>
                  </a:cubicBezTo>
                  <a:lnTo>
                    <a:pt x="1047139" y="406480"/>
                  </a:lnTo>
                  <a:cubicBezTo>
                    <a:pt x="1047139" y="461327"/>
                    <a:pt x="1002677" y="505789"/>
                    <a:pt x="947830" y="505789"/>
                  </a:cubicBezTo>
                  <a:lnTo>
                    <a:pt x="99309" y="505789"/>
                  </a:lnTo>
                  <a:cubicBezTo>
                    <a:pt x="44462" y="505789"/>
                    <a:pt x="0" y="461327"/>
                    <a:pt x="0" y="406480"/>
                  </a:cubicBezTo>
                  <a:lnTo>
                    <a:pt x="0" y="99309"/>
                  </a:lnTo>
                  <a:cubicBezTo>
                    <a:pt x="0" y="44462"/>
                    <a:pt x="44462" y="0"/>
                    <a:pt x="99309" y="0"/>
                  </a:cubicBezTo>
                  <a:close/>
                </a:path>
              </a:pathLst>
            </a:custGeom>
            <a:solidFill>
              <a:srgbClr val="81B6F8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47625"/>
              <a:ext cx="1047139" cy="45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Task Model</a:t>
              </a:r>
            </a:p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( + Small Prompt )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657584" y="6668742"/>
            <a:ext cx="3975856" cy="1920418"/>
            <a:chOff x="0" y="0"/>
            <a:chExt cx="1047139" cy="50578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7139" cy="505789"/>
            </a:xfrm>
            <a:custGeom>
              <a:avLst/>
              <a:gdLst/>
              <a:ahLst/>
              <a:cxnLst/>
              <a:rect l="l" t="t" r="r" b="b"/>
              <a:pathLst>
                <a:path w="1047139" h="505789">
                  <a:moveTo>
                    <a:pt x="99309" y="0"/>
                  </a:moveTo>
                  <a:lnTo>
                    <a:pt x="947830" y="0"/>
                  </a:lnTo>
                  <a:cubicBezTo>
                    <a:pt x="1002677" y="0"/>
                    <a:pt x="1047139" y="44462"/>
                    <a:pt x="1047139" y="99309"/>
                  </a:cubicBezTo>
                  <a:lnTo>
                    <a:pt x="1047139" y="406480"/>
                  </a:lnTo>
                  <a:cubicBezTo>
                    <a:pt x="1047139" y="461327"/>
                    <a:pt x="1002677" y="505789"/>
                    <a:pt x="947830" y="505789"/>
                  </a:cubicBezTo>
                  <a:lnTo>
                    <a:pt x="99309" y="505789"/>
                  </a:lnTo>
                  <a:cubicBezTo>
                    <a:pt x="44462" y="505789"/>
                    <a:pt x="0" y="461327"/>
                    <a:pt x="0" y="406480"/>
                  </a:cubicBezTo>
                  <a:lnTo>
                    <a:pt x="0" y="99309"/>
                  </a:lnTo>
                  <a:cubicBezTo>
                    <a:pt x="0" y="44462"/>
                    <a:pt x="44462" y="0"/>
                    <a:pt x="99309" y="0"/>
                  </a:cubicBezTo>
                  <a:close/>
                </a:path>
              </a:pathLst>
            </a:custGeom>
            <a:solidFill>
              <a:srgbClr val="8AFAFC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47625"/>
              <a:ext cx="1047139" cy="45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Base LLM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895505" y="6726900"/>
            <a:ext cx="3975856" cy="1920418"/>
            <a:chOff x="0" y="0"/>
            <a:chExt cx="1047139" cy="50578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47139" cy="505789"/>
            </a:xfrm>
            <a:custGeom>
              <a:avLst/>
              <a:gdLst/>
              <a:ahLst/>
              <a:cxnLst/>
              <a:rect l="l" t="t" r="r" b="b"/>
              <a:pathLst>
                <a:path w="1047139" h="505789">
                  <a:moveTo>
                    <a:pt x="99309" y="0"/>
                  </a:moveTo>
                  <a:lnTo>
                    <a:pt x="947830" y="0"/>
                  </a:lnTo>
                  <a:cubicBezTo>
                    <a:pt x="1002677" y="0"/>
                    <a:pt x="1047139" y="44462"/>
                    <a:pt x="1047139" y="99309"/>
                  </a:cubicBezTo>
                  <a:lnTo>
                    <a:pt x="1047139" y="406480"/>
                  </a:lnTo>
                  <a:cubicBezTo>
                    <a:pt x="1047139" y="461327"/>
                    <a:pt x="1002677" y="505789"/>
                    <a:pt x="947830" y="505789"/>
                  </a:cubicBezTo>
                  <a:lnTo>
                    <a:pt x="99309" y="505789"/>
                  </a:lnTo>
                  <a:cubicBezTo>
                    <a:pt x="44462" y="505789"/>
                    <a:pt x="0" y="461327"/>
                    <a:pt x="0" y="406480"/>
                  </a:cubicBezTo>
                  <a:lnTo>
                    <a:pt x="0" y="99309"/>
                  </a:lnTo>
                  <a:cubicBezTo>
                    <a:pt x="0" y="44462"/>
                    <a:pt x="44462" y="0"/>
                    <a:pt x="99309" y="0"/>
                  </a:cubicBezTo>
                  <a:close/>
                </a:path>
              </a:pathLst>
            </a:custGeom>
            <a:solidFill>
              <a:srgbClr val="8AFAFC"/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47625"/>
              <a:ext cx="1047139" cy="4581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Instruction Finetuned</a:t>
              </a:r>
            </a:p>
            <a:p>
              <a:pPr algn="ctr">
                <a:lnSpc>
                  <a:spcPts val="2279"/>
                </a:lnSpc>
              </a:pPr>
              <a:r>
                <a:rPr lang="en-US" sz="2400" b="1">
                  <a:solidFill>
                    <a:srgbClr val="04153C"/>
                  </a:solidFill>
                  <a:latin typeface="Cy Grotesk Key Bold"/>
                  <a:ea typeface="Cy Grotesk Key Bold"/>
                  <a:cs typeface="Cy Grotesk Key Bold"/>
                  <a:sym typeface="Cy Grotesk Key Bold"/>
                </a:rPr>
                <a:t>LLM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>
            <a:off x="7633440" y="2225003"/>
            <a:ext cx="4132322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 flipV="1">
            <a:off x="7633440" y="5133747"/>
            <a:ext cx="4239407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arrow" w="med" len="sm"/>
          </a:ln>
        </p:spPr>
        <p:txBody>
          <a:bodyPr/>
          <a:lstStyle/>
          <a:p>
            <a:endParaRPr lang="en-US"/>
          </a:p>
        </p:txBody>
      </p:sp>
      <p:sp>
        <p:nvSpPr>
          <p:cNvPr id="27" name="AutoShape 27"/>
          <p:cNvSpPr/>
          <p:nvPr/>
        </p:nvSpPr>
        <p:spPr>
          <a:xfrm flipV="1">
            <a:off x="7633440" y="7687109"/>
            <a:ext cx="426206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Box 28"/>
          <p:cNvSpPr txBox="1"/>
          <p:nvPr/>
        </p:nvSpPr>
        <p:spPr>
          <a:xfrm>
            <a:off x="8713192" y="4517859"/>
            <a:ext cx="2079903" cy="43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  <a:spcBef>
                <a:spcPct val="0"/>
              </a:spcBef>
            </a:pPr>
            <a:r>
              <a:rPr lang="en-US" sz="2516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Prompt Tuning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02222" y="1471790"/>
            <a:ext cx="2195274" cy="43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  <a:spcBef>
                <a:spcPct val="0"/>
              </a:spcBef>
            </a:pPr>
            <a:r>
              <a:rPr lang="en-US" sz="2516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Full-fine Tuning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134328" y="6967753"/>
            <a:ext cx="3260288" cy="431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3"/>
              </a:lnSpc>
              <a:spcBef>
                <a:spcPct val="0"/>
              </a:spcBef>
            </a:pPr>
            <a:r>
              <a:rPr lang="en-US" sz="2516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Instruction Fine Tuning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85548" y="-86278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120351" y="72009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3" y="0"/>
                </a:lnTo>
                <a:lnTo>
                  <a:pt x="692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160498" y="1964765"/>
            <a:ext cx="6464333" cy="6826407"/>
          </a:xfrm>
          <a:custGeom>
            <a:avLst/>
            <a:gdLst/>
            <a:ahLst/>
            <a:cxnLst/>
            <a:rect l="l" t="t" r="r" b="b"/>
            <a:pathLst>
              <a:path w="6464333" h="6826407">
                <a:moveTo>
                  <a:pt x="0" y="0"/>
                </a:moveTo>
                <a:lnTo>
                  <a:pt x="6464334" y="0"/>
                </a:lnTo>
                <a:lnTo>
                  <a:pt x="6464334" y="6826406"/>
                </a:lnTo>
                <a:lnTo>
                  <a:pt x="0" y="6826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715492" y="-40886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72044" y="1234645"/>
            <a:ext cx="12097505" cy="408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8"/>
              </a:lnSpc>
            </a:pPr>
            <a:r>
              <a:rPr lang="en-US" sz="899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Why do we need these techniques?</a:t>
            </a:r>
          </a:p>
          <a:p>
            <a:pPr algn="l">
              <a:lnSpc>
                <a:spcPts val="10788"/>
              </a:lnSpc>
            </a:pPr>
            <a:endParaRPr lang="en-US" sz="8990">
              <a:solidFill>
                <a:srgbClr val="FFFFFF"/>
              </a:solidFill>
              <a:latin typeface="Pattanakarn"/>
              <a:ea typeface="Pattanakarn"/>
              <a:cs typeface="Pattanakarn"/>
              <a:sym typeface="Pattanakar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26697" y="4708647"/>
            <a:ext cx="8946079" cy="34232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02" lvl="1" indent="-421001" algn="l">
              <a:lnSpc>
                <a:spcPts val="3899"/>
              </a:lnSpc>
              <a:buFont typeface="Arial"/>
              <a:buChar char="•"/>
            </a:pPr>
            <a:r>
              <a:rPr lang="en-US" sz="38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LLMs are extremely large</a:t>
            </a:r>
          </a:p>
          <a:p>
            <a:pPr algn="l">
              <a:lnSpc>
                <a:spcPts val="3899"/>
              </a:lnSpc>
            </a:pPr>
            <a:endParaRPr lang="en-US" sz="3899" b="1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842002" lvl="1" indent="-421001" algn="l">
              <a:lnSpc>
                <a:spcPts val="3899"/>
              </a:lnSpc>
              <a:buFont typeface="Arial"/>
              <a:buChar char="•"/>
            </a:pPr>
            <a:r>
              <a:rPr lang="en-US" sz="38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Too expensive without it</a:t>
            </a:r>
          </a:p>
          <a:p>
            <a:pPr algn="l">
              <a:lnSpc>
                <a:spcPts val="3899"/>
              </a:lnSpc>
            </a:pPr>
            <a:endParaRPr lang="en-US" sz="3899" b="1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842002" lvl="1" indent="-421001" algn="l">
              <a:lnSpc>
                <a:spcPts val="3899"/>
              </a:lnSpc>
              <a:buFont typeface="Arial"/>
              <a:buChar char="•"/>
            </a:pPr>
            <a:r>
              <a:rPr lang="en-US" sz="38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LLM responses can be generic</a:t>
            </a:r>
          </a:p>
          <a:p>
            <a:pPr algn="l">
              <a:lnSpc>
                <a:spcPts val="3899"/>
              </a:lnSpc>
            </a:pPr>
            <a:endParaRPr lang="en-US" sz="3899" b="1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  <a:p>
            <a:pPr marL="842002" lvl="1" indent="-421001" algn="l">
              <a:lnSpc>
                <a:spcPts val="3899"/>
              </a:lnSpc>
              <a:buFont typeface="Arial"/>
              <a:buChar char="•"/>
            </a:pPr>
            <a:r>
              <a:rPr lang="en-US" sz="3899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Adaptation problems</a:t>
            </a:r>
          </a:p>
        </p:txBody>
      </p:sp>
      <p:sp>
        <p:nvSpPr>
          <p:cNvPr id="9" name="Freeform 9"/>
          <p:cNvSpPr/>
          <p:nvPr/>
        </p:nvSpPr>
        <p:spPr>
          <a:xfrm rot="-2700000">
            <a:off x="-3532589" y="-824990"/>
            <a:ext cx="10204385" cy="6060389"/>
          </a:xfrm>
          <a:custGeom>
            <a:avLst/>
            <a:gdLst/>
            <a:ahLst/>
            <a:cxnLst/>
            <a:rect l="l" t="t" r="r" b="b"/>
            <a:pathLst>
              <a:path w="10204385" h="6060389">
                <a:moveTo>
                  <a:pt x="0" y="0"/>
                </a:moveTo>
                <a:lnTo>
                  <a:pt x="10204385" y="0"/>
                </a:lnTo>
                <a:lnTo>
                  <a:pt x="10204385" y="6060389"/>
                </a:lnTo>
                <a:lnTo>
                  <a:pt x="0" y="60603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33440" y="796953"/>
            <a:ext cx="14021119" cy="8693094"/>
          </a:xfrm>
          <a:custGeom>
            <a:avLst/>
            <a:gdLst/>
            <a:ahLst/>
            <a:cxnLst/>
            <a:rect l="l" t="t" r="r" b="b"/>
            <a:pathLst>
              <a:path w="14021119" h="8693094">
                <a:moveTo>
                  <a:pt x="0" y="0"/>
                </a:moveTo>
                <a:lnTo>
                  <a:pt x="14021120" y="0"/>
                </a:lnTo>
                <a:lnTo>
                  <a:pt x="14021120" y="8693094"/>
                </a:lnTo>
                <a:lnTo>
                  <a:pt x="0" y="8693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5909" y="-37205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9"/>
                </a:lnTo>
                <a:lnTo>
                  <a:pt x="0" y="937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715721" y="-12128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8"/>
                </a:lnTo>
                <a:lnTo>
                  <a:pt x="7139284" y="9379588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7533580" cy="8408950"/>
            <a:chOff x="0" y="0"/>
            <a:chExt cx="2055367" cy="22941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55367" cy="2294192"/>
            </a:xfrm>
            <a:custGeom>
              <a:avLst/>
              <a:gdLst/>
              <a:ahLst/>
              <a:cxnLst/>
              <a:rect l="l" t="t" r="r" b="b"/>
              <a:pathLst>
                <a:path w="2055367" h="2294192">
                  <a:moveTo>
                    <a:pt x="52410" y="0"/>
                  </a:moveTo>
                  <a:lnTo>
                    <a:pt x="2002956" y="0"/>
                  </a:lnTo>
                  <a:cubicBezTo>
                    <a:pt x="2016857" y="0"/>
                    <a:pt x="2030187" y="5522"/>
                    <a:pt x="2040016" y="15351"/>
                  </a:cubicBezTo>
                  <a:cubicBezTo>
                    <a:pt x="2049845" y="25180"/>
                    <a:pt x="2055367" y="38510"/>
                    <a:pt x="2055367" y="52410"/>
                  </a:cubicBezTo>
                  <a:lnTo>
                    <a:pt x="2055367" y="2241781"/>
                  </a:lnTo>
                  <a:cubicBezTo>
                    <a:pt x="2055367" y="2255681"/>
                    <a:pt x="2049845" y="2269012"/>
                    <a:pt x="2040016" y="2278841"/>
                  </a:cubicBezTo>
                  <a:cubicBezTo>
                    <a:pt x="2030187" y="2288670"/>
                    <a:pt x="2016857" y="2294192"/>
                    <a:pt x="2002956" y="2294192"/>
                  </a:cubicBezTo>
                  <a:lnTo>
                    <a:pt x="52410" y="2294192"/>
                  </a:lnTo>
                  <a:cubicBezTo>
                    <a:pt x="38510" y="2294192"/>
                    <a:pt x="25180" y="2288670"/>
                    <a:pt x="15351" y="2278841"/>
                  </a:cubicBezTo>
                  <a:cubicBezTo>
                    <a:pt x="5522" y="2269012"/>
                    <a:pt x="0" y="2255681"/>
                    <a:pt x="0" y="2241781"/>
                  </a:cubicBezTo>
                  <a:lnTo>
                    <a:pt x="0" y="52410"/>
                  </a:lnTo>
                  <a:cubicBezTo>
                    <a:pt x="0" y="38510"/>
                    <a:pt x="5522" y="25180"/>
                    <a:pt x="15351" y="15351"/>
                  </a:cubicBezTo>
                  <a:cubicBezTo>
                    <a:pt x="25180" y="5522"/>
                    <a:pt x="38510" y="0"/>
                    <a:pt x="52410" y="0"/>
                  </a:cubicBezTo>
                  <a:close/>
                </a:path>
              </a:pathLst>
            </a:custGeom>
            <a:solidFill>
              <a:srgbClr val="44A5FF">
                <a:alpha val="53725"/>
              </a:srgbClr>
            </a:solidFill>
            <a:ln w="19050" cap="rnd">
              <a:solidFill>
                <a:srgbClr val="FFFFFF">
                  <a:alpha val="53725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055367" cy="2246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25720" y="1028700"/>
            <a:ext cx="7533580" cy="8408950"/>
            <a:chOff x="0" y="0"/>
            <a:chExt cx="2055367" cy="22941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55367" cy="2294192"/>
            </a:xfrm>
            <a:custGeom>
              <a:avLst/>
              <a:gdLst/>
              <a:ahLst/>
              <a:cxnLst/>
              <a:rect l="l" t="t" r="r" b="b"/>
              <a:pathLst>
                <a:path w="2055367" h="2294192">
                  <a:moveTo>
                    <a:pt x="52410" y="0"/>
                  </a:moveTo>
                  <a:lnTo>
                    <a:pt x="2002956" y="0"/>
                  </a:lnTo>
                  <a:cubicBezTo>
                    <a:pt x="2016857" y="0"/>
                    <a:pt x="2030187" y="5522"/>
                    <a:pt x="2040016" y="15351"/>
                  </a:cubicBezTo>
                  <a:cubicBezTo>
                    <a:pt x="2049845" y="25180"/>
                    <a:pt x="2055367" y="38510"/>
                    <a:pt x="2055367" y="52410"/>
                  </a:cubicBezTo>
                  <a:lnTo>
                    <a:pt x="2055367" y="2241781"/>
                  </a:lnTo>
                  <a:cubicBezTo>
                    <a:pt x="2055367" y="2255681"/>
                    <a:pt x="2049845" y="2269012"/>
                    <a:pt x="2040016" y="2278841"/>
                  </a:cubicBezTo>
                  <a:cubicBezTo>
                    <a:pt x="2030187" y="2288670"/>
                    <a:pt x="2016857" y="2294192"/>
                    <a:pt x="2002956" y="2294192"/>
                  </a:cubicBezTo>
                  <a:lnTo>
                    <a:pt x="52410" y="2294192"/>
                  </a:lnTo>
                  <a:cubicBezTo>
                    <a:pt x="38510" y="2294192"/>
                    <a:pt x="25180" y="2288670"/>
                    <a:pt x="15351" y="2278841"/>
                  </a:cubicBezTo>
                  <a:cubicBezTo>
                    <a:pt x="5522" y="2269012"/>
                    <a:pt x="0" y="2255681"/>
                    <a:pt x="0" y="2241781"/>
                  </a:cubicBezTo>
                  <a:lnTo>
                    <a:pt x="0" y="52410"/>
                  </a:lnTo>
                  <a:cubicBezTo>
                    <a:pt x="0" y="38510"/>
                    <a:pt x="5522" y="25180"/>
                    <a:pt x="15351" y="15351"/>
                  </a:cubicBezTo>
                  <a:cubicBezTo>
                    <a:pt x="25180" y="5522"/>
                    <a:pt x="38510" y="0"/>
                    <a:pt x="52410" y="0"/>
                  </a:cubicBezTo>
                  <a:close/>
                </a:path>
              </a:pathLst>
            </a:custGeom>
            <a:solidFill>
              <a:srgbClr val="99ACFF">
                <a:alpha val="64706"/>
              </a:srgbClr>
            </a:solidFill>
            <a:ln w="19050" cap="rnd">
              <a:solidFill>
                <a:srgbClr val="FFFFFF">
                  <a:alpha val="6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625"/>
              <a:ext cx="2055367" cy="2246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903464" y="2861495"/>
            <a:ext cx="937486" cy="1255376"/>
          </a:xfrm>
          <a:custGeom>
            <a:avLst/>
            <a:gdLst/>
            <a:ahLst/>
            <a:cxnLst/>
            <a:rect l="l" t="t" r="r" b="b"/>
            <a:pathLst>
              <a:path w="937486" h="1255376">
                <a:moveTo>
                  <a:pt x="0" y="0"/>
                </a:moveTo>
                <a:lnTo>
                  <a:pt x="937486" y="0"/>
                </a:lnTo>
                <a:lnTo>
                  <a:pt x="937486" y="1255376"/>
                </a:lnTo>
                <a:lnTo>
                  <a:pt x="0" y="12553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94980" y="2861495"/>
            <a:ext cx="992489" cy="1255376"/>
          </a:xfrm>
          <a:custGeom>
            <a:avLst/>
            <a:gdLst/>
            <a:ahLst/>
            <a:cxnLst/>
            <a:rect l="l" t="t" r="r" b="b"/>
            <a:pathLst>
              <a:path w="992489" h="1255376">
                <a:moveTo>
                  <a:pt x="0" y="0"/>
                </a:moveTo>
                <a:lnTo>
                  <a:pt x="992488" y="0"/>
                </a:lnTo>
                <a:lnTo>
                  <a:pt x="992488" y="1255376"/>
                </a:lnTo>
                <a:lnTo>
                  <a:pt x="0" y="1255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978854" y="2625788"/>
            <a:ext cx="3985928" cy="1573326"/>
            <a:chOff x="0" y="0"/>
            <a:chExt cx="1119702" cy="4419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4891" cy="446207"/>
            </a:xfrm>
            <a:custGeom>
              <a:avLst/>
              <a:gdLst/>
              <a:ahLst/>
              <a:cxnLst/>
              <a:rect l="l" t="t" r="r" b="b"/>
              <a:pathLst>
                <a:path w="1134891" h="446207">
                  <a:moveTo>
                    <a:pt x="635742" y="0"/>
                  </a:moveTo>
                  <a:cubicBezTo>
                    <a:pt x="648024" y="0"/>
                    <a:pt x="660379" y="0"/>
                    <a:pt x="672637" y="0"/>
                  </a:cubicBezTo>
                  <a:cubicBezTo>
                    <a:pt x="770360" y="7382"/>
                    <a:pt x="831433" y="31954"/>
                    <a:pt x="859251" y="72162"/>
                  </a:cubicBezTo>
                  <a:cubicBezTo>
                    <a:pt x="1022173" y="66800"/>
                    <a:pt x="1134891" y="142826"/>
                    <a:pt x="1068437" y="217443"/>
                  </a:cubicBezTo>
                  <a:cubicBezTo>
                    <a:pt x="1092443" y="233123"/>
                    <a:pt x="1112469" y="250662"/>
                    <a:pt x="1119702" y="274202"/>
                  </a:cubicBezTo>
                  <a:cubicBezTo>
                    <a:pt x="1119702" y="280945"/>
                    <a:pt x="1119702" y="287672"/>
                    <a:pt x="1119702" y="294415"/>
                  </a:cubicBezTo>
                  <a:cubicBezTo>
                    <a:pt x="1098148" y="354327"/>
                    <a:pt x="1005400" y="394811"/>
                    <a:pt x="853133" y="383912"/>
                  </a:cubicBezTo>
                  <a:cubicBezTo>
                    <a:pt x="813955" y="414674"/>
                    <a:pt x="744243" y="446207"/>
                    <a:pt x="635765" y="441644"/>
                  </a:cubicBezTo>
                  <a:cubicBezTo>
                    <a:pt x="579694" y="439624"/>
                    <a:pt x="540687" y="427927"/>
                    <a:pt x="506534" y="413716"/>
                  </a:cubicBezTo>
                  <a:cubicBezTo>
                    <a:pt x="470562" y="425529"/>
                    <a:pt x="431603" y="434800"/>
                    <a:pt x="375314" y="434902"/>
                  </a:cubicBezTo>
                  <a:cubicBezTo>
                    <a:pt x="245087" y="435076"/>
                    <a:pt x="157971" y="389565"/>
                    <a:pt x="155859" y="327139"/>
                  </a:cubicBezTo>
                  <a:cubicBezTo>
                    <a:pt x="72140" y="312535"/>
                    <a:pt x="15438" y="285275"/>
                    <a:pt x="0" y="238630"/>
                  </a:cubicBezTo>
                  <a:cubicBezTo>
                    <a:pt x="0" y="231887"/>
                    <a:pt x="0" y="225131"/>
                    <a:pt x="0" y="218417"/>
                  </a:cubicBezTo>
                  <a:cubicBezTo>
                    <a:pt x="17040" y="172194"/>
                    <a:pt x="70660" y="143160"/>
                    <a:pt x="159937" y="130852"/>
                  </a:cubicBezTo>
                  <a:cubicBezTo>
                    <a:pt x="154572" y="52879"/>
                    <a:pt x="333152" y="4156"/>
                    <a:pt x="479859" y="38507"/>
                  </a:cubicBezTo>
                  <a:cubicBezTo>
                    <a:pt x="514788" y="21521"/>
                    <a:pt x="564207" y="2993"/>
                    <a:pt x="635742" y="0"/>
                  </a:cubicBezTo>
                  <a:close/>
                </a:path>
              </a:pathLst>
            </a:custGeom>
            <a:solidFill>
              <a:srgbClr val="FAF7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486" y="121287"/>
              <a:ext cx="1014730" cy="257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87468" y="2606010"/>
            <a:ext cx="4251369" cy="1563583"/>
            <a:chOff x="0" y="0"/>
            <a:chExt cx="1119702" cy="411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4891" cy="416046"/>
            </a:xfrm>
            <a:custGeom>
              <a:avLst/>
              <a:gdLst/>
              <a:ahLst/>
              <a:cxnLst/>
              <a:rect l="l" t="t" r="r" b="b"/>
              <a:pathLst>
                <a:path w="1134891" h="416046">
                  <a:moveTo>
                    <a:pt x="635742" y="0"/>
                  </a:moveTo>
                  <a:cubicBezTo>
                    <a:pt x="648024" y="0"/>
                    <a:pt x="660379" y="0"/>
                    <a:pt x="672637" y="0"/>
                  </a:cubicBezTo>
                  <a:cubicBezTo>
                    <a:pt x="770360" y="6878"/>
                    <a:pt x="831433" y="29773"/>
                    <a:pt x="859251" y="67237"/>
                  </a:cubicBezTo>
                  <a:cubicBezTo>
                    <a:pt x="1022173" y="62241"/>
                    <a:pt x="1134891" y="133080"/>
                    <a:pt x="1068437" y="202605"/>
                  </a:cubicBezTo>
                  <a:cubicBezTo>
                    <a:pt x="1092443" y="217214"/>
                    <a:pt x="1112469" y="233556"/>
                    <a:pt x="1119702" y="255490"/>
                  </a:cubicBezTo>
                  <a:cubicBezTo>
                    <a:pt x="1119702" y="261773"/>
                    <a:pt x="1119702" y="268041"/>
                    <a:pt x="1119702" y="274323"/>
                  </a:cubicBezTo>
                  <a:cubicBezTo>
                    <a:pt x="1098148" y="330146"/>
                    <a:pt x="1005400" y="367868"/>
                    <a:pt x="853133" y="357713"/>
                  </a:cubicBezTo>
                  <a:cubicBezTo>
                    <a:pt x="813955" y="386376"/>
                    <a:pt x="744243" y="416046"/>
                    <a:pt x="635765" y="411505"/>
                  </a:cubicBezTo>
                  <a:cubicBezTo>
                    <a:pt x="579694" y="409623"/>
                    <a:pt x="540687" y="398724"/>
                    <a:pt x="506534" y="385483"/>
                  </a:cubicBezTo>
                  <a:cubicBezTo>
                    <a:pt x="470562" y="396490"/>
                    <a:pt x="431603" y="405128"/>
                    <a:pt x="375314" y="405223"/>
                  </a:cubicBezTo>
                  <a:cubicBezTo>
                    <a:pt x="245087" y="405386"/>
                    <a:pt x="157971" y="362980"/>
                    <a:pt x="155859" y="304814"/>
                  </a:cubicBezTo>
                  <a:cubicBezTo>
                    <a:pt x="72140" y="291207"/>
                    <a:pt x="15438" y="265807"/>
                    <a:pt x="0" y="222345"/>
                  </a:cubicBezTo>
                  <a:cubicBezTo>
                    <a:pt x="0" y="216063"/>
                    <a:pt x="0" y="209767"/>
                    <a:pt x="0" y="203512"/>
                  </a:cubicBezTo>
                  <a:cubicBezTo>
                    <a:pt x="17040" y="160443"/>
                    <a:pt x="70660" y="133390"/>
                    <a:pt x="159937" y="121923"/>
                  </a:cubicBezTo>
                  <a:cubicBezTo>
                    <a:pt x="154572" y="49270"/>
                    <a:pt x="333152" y="3872"/>
                    <a:pt x="479859" y="35880"/>
                  </a:cubicBezTo>
                  <a:cubicBezTo>
                    <a:pt x="514788" y="20052"/>
                    <a:pt x="564207" y="2789"/>
                    <a:pt x="635742" y="0"/>
                  </a:cubicBezTo>
                  <a:close/>
                </a:path>
              </a:pathLst>
            </a:custGeom>
            <a:solidFill>
              <a:srgbClr val="FAF7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486" y="116260"/>
              <a:ext cx="1014730" cy="236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1317464" y="4683943"/>
            <a:ext cx="6781537" cy="4449803"/>
            <a:chOff x="0" y="0"/>
            <a:chExt cx="1786084" cy="117196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86095" cy="1171965"/>
            </a:xfrm>
            <a:custGeom>
              <a:avLst/>
              <a:gdLst/>
              <a:ahLst/>
              <a:cxnLst/>
              <a:rect l="l" t="t" r="r" b="b"/>
              <a:pathLst>
                <a:path w="1786095" h="1171965">
                  <a:moveTo>
                    <a:pt x="1487074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526720"/>
                  </a:cubicBezTo>
                  <a:cubicBezTo>
                    <a:pt x="0" y="846933"/>
                    <a:pt x="66279" y="942074"/>
                    <a:pt x="162037" y="986216"/>
                  </a:cubicBezTo>
                  <a:lnTo>
                    <a:pt x="162037" y="1171965"/>
                  </a:lnTo>
                  <a:lnTo>
                    <a:pt x="353844" y="1012497"/>
                  </a:lnTo>
                  <a:lnTo>
                    <a:pt x="1487074" y="1012497"/>
                  </a:lnTo>
                  <a:cubicBezTo>
                    <a:pt x="1659646" y="1012497"/>
                    <a:pt x="1786084" y="888984"/>
                    <a:pt x="1786084" y="526636"/>
                  </a:cubicBezTo>
                  <a:cubicBezTo>
                    <a:pt x="1786095" y="123512"/>
                    <a:pt x="1659646" y="0"/>
                    <a:pt x="1487074" y="0"/>
                  </a:cubicBezTo>
                  <a:close/>
                </a:path>
              </a:pathLst>
            </a:custGeom>
            <a:solidFill>
              <a:srgbClr val="8AFAF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5725"/>
              <a:ext cx="1786084" cy="895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3670" y="1603680"/>
            <a:ext cx="6395061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WITHOUT TUNING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94980" y="1603680"/>
            <a:ext cx="6395061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WITH TUNING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40950" y="3043628"/>
            <a:ext cx="4251369" cy="84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24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Summarize WW1 in </a:t>
            </a:r>
          </a:p>
          <a:p>
            <a:pPr algn="ctr">
              <a:lnSpc>
                <a:spcPts val="3383"/>
              </a:lnSpc>
              <a:spcBef>
                <a:spcPct val="0"/>
              </a:spcBef>
            </a:pPr>
            <a:r>
              <a:rPr lang="en-US" sz="24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 sentences.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82556" y="3993046"/>
            <a:ext cx="1169475" cy="113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87"/>
              </a:lnSpc>
              <a:spcBef>
                <a:spcPct val="0"/>
              </a:spcBef>
            </a:pPr>
            <a:r>
              <a:rPr lang="en-US" sz="670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43670" y="5478958"/>
            <a:ext cx="6042600" cy="3327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3"/>
              </a:lnSpc>
              <a:spcBef>
                <a:spcPct val="0"/>
              </a:spcBef>
            </a:pPr>
            <a:r>
              <a:rPr lang="en-US" sz="2116" i="1">
                <a:solidFill>
                  <a:srgbClr val="000000"/>
                </a:solidFill>
                <a:latin typeface="Pattanakarn Italics"/>
                <a:ea typeface="Pattanakarn Italics"/>
                <a:cs typeface="Pattanakarn Italics"/>
                <a:sym typeface="Pattanakarn Italics"/>
              </a:rPr>
              <a:t>“The causes of World War I are numerous and complex, involving a vast network of political alliances, military buildups, imperial rivalries, and nationalist tensions across Europe. In 1914, the assassination of Archduke Franz Ferdinand of Austria-Hungary set off a chain of diplomatic failures and escalations that resulted in the outbreak of a devastating global conflict.”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420818" y="3043628"/>
            <a:ext cx="4251369" cy="843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24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Summarize WW1 in </a:t>
            </a:r>
          </a:p>
          <a:p>
            <a:pPr algn="ctr">
              <a:lnSpc>
                <a:spcPts val="3383"/>
              </a:lnSpc>
              <a:spcBef>
                <a:spcPct val="0"/>
              </a:spcBef>
            </a:pPr>
            <a:r>
              <a:rPr lang="en-US" sz="2416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2 sentences.</a:t>
            </a:r>
          </a:p>
        </p:txBody>
      </p:sp>
      <p:grpSp>
        <p:nvGrpSpPr>
          <p:cNvPr id="28" name="Group 28"/>
          <p:cNvGrpSpPr/>
          <p:nvPr/>
        </p:nvGrpSpPr>
        <p:grpSpPr>
          <a:xfrm rot="-10800000">
            <a:off x="10023435" y="5233175"/>
            <a:ext cx="6666606" cy="3397217"/>
            <a:chOff x="0" y="0"/>
            <a:chExt cx="1755814" cy="8947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825" cy="894740"/>
            </a:xfrm>
            <a:custGeom>
              <a:avLst/>
              <a:gdLst/>
              <a:ahLst/>
              <a:cxnLst/>
              <a:rect l="l" t="t" r="r" b="b"/>
              <a:pathLst>
                <a:path w="1755825" h="894740">
                  <a:moveTo>
                    <a:pt x="1457320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375794"/>
                  </a:cubicBezTo>
                  <a:cubicBezTo>
                    <a:pt x="0" y="569709"/>
                    <a:pt x="66279" y="664850"/>
                    <a:pt x="162037" y="708991"/>
                  </a:cubicBezTo>
                  <a:lnTo>
                    <a:pt x="162037" y="894740"/>
                  </a:lnTo>
                  <a:lnTo>
                    <a:pt x="353844" y="735273"/>
                  </a:lnTo>
                  <a:lnTo>
                    <a:pt x="1457320" y="735273"/>
                  </a:lnTo>
                  <a:cubicBezTo>
                    <a:pt x="1629377" y="735273"/>
                    <a:pt x="1755814" y="611760"/>
                    <a:pt x="1755814" y="375754"/>
                  </a:cubicBezTo>
                  <a:cubicBezTo>
                    <a:pt x="1755825" y="123512"/>
                    <a:pt x="1629377" y="0"/>
                    <a:pt x="1457320" y="0"/>
                  </a:cubicBezTo>
                  <a:close/>
                </a:path>
              </a:pathLst>
            </a:custGeom>
            <a:solidFill>
              <a:srgbClr val="8AFAF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85725"/>
              <a:ext cx="1755814" cy="6185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836077" y="4193916"/>
            <a:ext cx="1169475" cy="113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87"/>
              </a:lnSpc>
              <a:spcBef>
                <a:spcPct val="0"/>
              </a:spcBef>
            </a:pPr>
            <a:r>
              <a:rPr lang="en-US" sz="670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20648" y="6152740"/>
            <a:ext cx="5900166" cy="2213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sz="2116" i="1">
                <a:solidFill>
                  <a:srgbClr val="000000"/>
                </a:solidFill>
                <a:latin typeface="Pattanakarn Italics"/>
                <a:ea typeface="Pattanakarn Italics"/>
                <a:cs typeface="Pattanakarn Italics"/>
                <a:sym typeface="Pattanakarn Italics"/>
              </a:rPr>
              <a:t>“World War I was caused by military alliances, nationalism, imperial competition, and an arms race in Europe. </a:t>
            </a:r>
          </a:p>
          <a:p>
            <a:pPr algn="l">
              <a:lnSpc>
                <a:spcPts val="2963"/>
              </a:lnSpc>
              <a:spcBef>
                <a:spcPct val="0"/>
              </a:spcBef>
            </a:pPr>
            <a:r>
              <a:rPr lang="en-US" sz="2116" i="1">
                <a:solidFill>
                  <a:srgbClr val="000000"/>
                </a:solidFill>
                <a:latin typeface="Pattanakarn Italics"/>
                <a:ea typeface="Pattanakarn Italics"/>
                <a:cs typeface="Pattanakarn Italics"/>
                <a:sym typeface="Pattanakarn Italics"/>
              </a:rPr>
              <a:t>The assassination of Archduke Franz Ferdinand triggered these tensions into open conflict.”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362" y="-1058517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312313" y="-77131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58104" y="3631277"/>
            <a:ext cx="17771791" cy="5925733"/>
          </a:xfrm>
          <a:custGeom>
            <a:avLst/>
            <a:gdLst/>
            <a:ahLst/>
            <a:cxnLst/>
            <a:rect l="l" t="t" r="r" b="b"/>
            <a:pathLst>
              <a:path w="17771791" h="5925733">
                <a:moveTo>
                  <a:pt x="0" y="0"/>
                </a:moveTo>
                <a:lnTo>
                  <a:pt x="17771792" y="0"/>
                </a:lnTo>
                <a:lnTo>
                  <a:pt x="17771792" y="5925733"/>
                </a:lnTo>
                <a:lnTo>
                  <a:pt x="0" y="5925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675890" y="82296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4" y="0"/>
                </a:lnTo>
                <a:lnTo>
                  <a:pt x="6928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618666" y="4217190"/>
            <a:ext cx="5985658" cy="5339820"/>
          </a:xfrm>
          <a:custGeom>
            <a:avLst/>
            <a:gdLst/>
            <a:ahLst/>
            <a:cxnLst/>
            <a:rect l="l" t="t" r="r" b="b"/>
            <a:pathLst>
              <a:path w="5985658" h="5339820">
                <a:moveTo>
                  <a:pt x="0" y="0"/>
                </a:moveTo>
                <a:lnTo>
                  <a:pt x="5985658" y="0"/>
                </a:lnTo>
                <a:lnTo>
                  <a:pt x="5985658" y="5339820"/>
                </a:lnTo>
                <a:lnTo>
                  <a:pt x="0" y="5339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548087" y="1853897"/>
            <a:ext cx="12126816" cy="1777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22"/>
              </a:lnSpc>
            </a:pPr>
            <a:r>
              <a:rPr lang="en-US" sz="12232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Prompt Tuning</a:t>
            </a:r>
          </a:p>
        </p:txBody>
      </p:sp>
      <p:sp>
        <p:nvSpPr>
          <p:cNvPr id="9" name="Freeform 9"/>
          <p:cNvSpPr/>
          <p:nvPr/>
        </p:nvSpPr>
        <p:spPr>
          <a:xfrm>
            <a:off x="13627599" y="58847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3661078" y="608932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802566" y="-3661094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>
            <a:off x="432386" y="-52236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990007" y="7690055"/>
            <a:ext cx="7625234" cy="4528630"/>
          </a:xfrm>
          <a:custGeom>
            <a:avLst/>
            <a:gdLst/>
            <a:ahLst/>
            <a:cxnLst/>
            <a:rect l="l" t="t" r="r" b="b"/>
            <a:pathLst>
              <a:path w="7625234" h="4528630">
                <a:moveTo>
                  <a:pt x="0" y="0"/>
                </a:moveTo>
                <a:lnTo>
                  <a:pt x="7625233" y="0"/>
                </a:lnTo>
                <a:lnTo>
                  <a:pt x="7625233" y="4528630"/>
                </a:lnTo>
                <a:lnTo>
                  <a:pt x="0" y="45286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3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07363" y="4167430"/>
            <a:ext cx="4430568" cy="4949522"/>
          </a:xfrm>
          <a:custGeom>
            <a:avLst/>
            <a:gdLst/>
            <a:ahLst/>
            <a:cxnLst/>
            <a:rect l="l" t="t" r="r" b="b"/>
            <a:pathLst>
              <a:path w="4430568" h="4949522">
                <a:moveTo>
                  <a:pt x="0" y="0"/>
                </a:moveTo>
                <a:lnTo>
                  <a:pt x="4430568" y="0"/>
                </a:lnTo>
                <a:lnTo>
                  <a:pt x="4430568" y="4949522"/>
                </a:lnTo>
                <a:lnTo>
                  <a:pt x="0" y="494952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885703" y="-1789620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464713" y="989144"/>
            <a:ext cx="12213914" cy="1623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2168"/>
              </a:lnSpc>
            </a:pPr>
            <a:r>
              <a:rPr lang="en-US" sz="12168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Prompt Tuning: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02623" y="4043605"/>
            <a:ext cx="11203432" cy="2027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 Involves modifying the input to a pre-trained language model rather than altering the model's parameters.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35909" y="-37205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9"/>
                </a:lnTo>
                <a:lnTo>
                  <a:pt x="0" y="937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715721" y="-12128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8"/>
                </a:lnTo>
                <a:lnTo>
                  <a:pt x="7139284" y="9379588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1028700" y="2356618"/>
            <a:ext cx="7533580" cy="7081032"/>
            <a:chOff x="0" y="0"/>
            <a:chExt cx="2055367" cy="19318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55367" cy="1931899"/>
            </a:xfrm>
            <a:custGeom>
              <a:avLst/>
              <a:gdLst/>
              <a:ahLst/>
              <a:cxnLst/>
              <a:rect l="l" t="t" r="r" b="b"/>
              <a:pathLst>
                <a:path w="2055367" h="1931899">
                  <a:moveTo>
                    <a:pt x="52410" y="0"/>
                  </a:moveTo>
                  <a:lnTo>
                    <a:pt x="2002956" y="0"/>
                  </a:lnTo>
                  <a:cubicBezTo>
                    <a:pt x="2016857" y="0"/>
                    <a:pt x="2030187" y="5522"/>
                    <a:pt x="2040016" y="15351"/>
                  </a:cubicBezTo>
                  <a:cubicBezTo>
                    <a:pt x="2049845" y="25180"/>
                    <a:pt x="2055367" y="38510"/>
                    <a:pt x="2055367" y="52410"/>
                  </a:cubicBezTo>
                  <a:lnTo>
                    <a:pt x="2055367" y="1879489"/>
                  </a:lnTo>
                  <a:cubicBezTo>
                    <a:pt x="2055367" y="1893389"/>
                    <a:pt x="2049845" y="1906720"/>
                    <a:pt x="2040016" y="1916549"/>
                  </a:cubicBezTo>
                  <a:cubicBezTo>
                    <a:pt x="2030187" y="1926378"/>
                    <a:pt x="2016857" y="1931899"/>
                    <a:pt x="2002956" y="1931899"/>
                  </a:cubicBezTo>
                  <a:lnTo>
                    <a:pt x="52410" y="1931899"/>
                  </a:lnTo>
                  <a:cubicBezTo>
                    <a:pt x="38510" y="1931899"/>
                    <a:pt x="25180" y="1926378"/>
                    <a:pt x="15351" y="1916549"/>
                  </a:cubicBezTo>
                  <a:cubicBezTo>
                    <a:pt x="5522" y="1906720"/>
                    <a:pt x="0" y="1893389"/>
                    <a:pt x="0" y="1879489"/>
                  </a:cubicBezTo>
                  <a:lnTo>
                    <a:pt x="0" y="52410"/>
                  </a:lnTo>
                  <a:cubicBezTo>
                    <a:pt x="0" y="38510"/>
                    <a:pt x="5522" y="25180"/>
                    <a:pt x="15351" y="15351"/>
                  </a:cubicBezTo>
                  <a:cubicBezTo>
                    <a:pt x="25180" y="5522"/>
                    <a:pt x="38510" y="0"/>
                    <a:pt x="52410" y="0"/>
                  </a:cubicBezTo>
                  <a:close/>
                </a:path>
              </a:pathLst>
            </a:custGeom>
            <a:solidFill>
              <a:srgbClr val="44A5FF">
                <a:alpha val="53725"/>
              </a:srgbClr>
            </a:solidFill>
            <a:ln w="19050" cap="rnd">
              <a:solidFill>
                <a:srgbClr val="FFFFFF">
                  <a:alpha val="53725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2055367" cy="1884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725720" y="2356618"/>
            <a:ext cx="7533580" cy="7081032"/>
            <a:chOff x="0" y="0"/>
            <a:chExt cx="2055367" cy="19318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55367" cy="1931899"/>
            </a:xfrm>
            <a:custGeom>
              <a:avLst/>
              <a:gdLst/>
              <a:ahLst/>
              <a:cxnLst/>
              <a:rect l="l" t="t" r="r" b="b"/>
              <a:pathLst>
                <a:path w="2055367" h="1931899">
                  <a:moveTo>
                    <a:pt x="52410" y="0"/>
                  </a:moveTo>
                  <a:lnTo>
                    <a:pt x="2002956" y="0"/>
                  </a:lnTo>
                  <a:cubicBezTo>
                    <a:pt x="2016857" y="0"/>
                    <a:pt x="2030187" y="5522"/>
                    <a:pt x="2040016" y="15351"/>
                  </a:cubicBezTo>
                  <a:cubicBezTo>
                    <a:pt x="2049845" y="25180"/>
                    <a:pt x="2055367" y="38510"/>
                    <a:pt x="2055367" y="52410"/>
                  </a:cubicBezTo>
                  <a:lnTo>
                    <a:pt x="2055367" y="1879489"/>
                  </a:lnTo>
                  <a:cubicBezTo>
                    <a:pt x="2055367" y="1893389"/>
                    <a:pt x="2049845" y="1906720"/>
                    <a:pt x="2040016" y="1916549"/>
                  </a:cubicBezTo>
                  <a:cubicBezTo>
                    <a:pt x="2030187" y="1926378"/>
                    <a:pt x="2016857" y="1931899"/>
                    <a:pt x="2002956" y="1931899"/>
                  </a:cubicBezTo>
                  <a:lnTo>
                    <a:pt x="52410" y="1931899"/>
                  </a:lnTo>
                  <a:cubicBezTo>
                    <a:pt x="38510" y="1931899"/>
                    <a:pt x="25180" y="1926378"/>
                    <a:pt x="15351" y="1916549"/>
                  </a:cubicBezTo>
                  <a:cubicBezTo>
                    <a:pt x="5522" y="1906720"/>
                    <a:pt x="0" y="1893389"/>
                    <a:pt x="0" y="1879489"/>
                  </a:cubicBezTo>
                  <a:lnTo>
                    <a:pt x="0" y="52410"/>
                  </a:lnTo>
                  <a:cubicBezTo>
                    <a:pt x="0" y="38510"/>
                    <a:pt x="5522" y="25180"/>
                    <a:pt x="15351" y="15351"/>
                  </a:cubicBezTo>
                  <a:cubicBezTo>
                    <a:pt x="25180" y="5522"/>
                    <a:pt x="38510" y="0"/>
                    <a:pt x="52410" y="0"/>
                  </a:cubicBezTo>
                  <a:close/>
                </a:path>
              </a:pathLst>
            </a:custGeom>
            <a:solidFill>
              <a:srgbClr val="99ACFF">
                <a:alpha val="64706"/>
              </a:srgbClr>
            </a:solidFill>
            <a:ln w="19050" cap="rnd">
              <a:solidFill>
                <a:srgbClr val="FFFFFF">
                  <a:alpha val="6470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625"/>
              <a:ext cx="2055367" cy="18842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903464" y="4165882"/>
            <a:ext cx="937486" cy="1255376"/>
          </a:xfrm>
          <a:custGeom>
            <a:avLst/>
            <a:gdLst/>
            <a:ahLst/>
            <a:cxnLst/>
            <a:rect l="l" t="t" r="r" b="b"/>
            <a:pathLst>
              <a:path w="937486" h="1255376">
                <a:moveTo>
                  <a:pt x="0" y="0"/>
                </a:moveTo>
                <a:lnTo>
                  <a:pt x="937486" y="0"/>
                </a:lnTo>
                <a:lnTo>
                  <a:pt x="937486" y="1255377"/>
                </a:lnTo>
                <a:lnTo>
                  <a:pt x="0" y="12553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294980" y="4122686"/>
            <a:ext cx="992489" cy="1255376"/>
          </a:xfrm>
          <a:custGeom>
            <a:avLst/>
            <a:gdLst/>
            <a:ahLst/>
            <a:cxnLst/>
            <a:rect l="l" t="t" r="r" b="b"/>
            <a:pathLst>
              <a:path w="992489" h="1255376">
                <a:moveTo>
                  <a:pt x="0" y="0"/>
                </a:moveTo>
                <a:lnTo>
                  <a:pt x="992488" y="0"/>
                </a:lnTo>
                <a:lnTo>
                  <a:pt x="992488" y="1255376"/>
                </a:lnTo>
                <a:lnTo>
                  <a:pt x="0" y="12553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2978854" y="3930176"/>
            <a:ext cx="3985928" cy="1573326"/>
            <a:chOff x="0" y="0"/>
            <a:chExt cx="1119702" cy="4419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34891" cy="446207"/>
            </a:xfrm>
            <a:custGeom>
              <a:avLst/>
              <a:gdLst/>
              <a:ahLst/>
              <a:cxnLst/>
              <a:rect l="l" t="t" r="r" b="b"/>
              <a:pathLst>
                <a:path w="1134891" h="446207">
                  <a:moveTo>
                    <a:pt x="635742" y="0"/>
                  </a:moveTo>
                  <a:cubicBezTo>
                    <a:pt x="648024" y="0"/>
                    <a:pt x="660379" y="0"/>
                    <a:pt x="672637" y="0"/>
                  </a:cubicBezTo>
                  <a:cubicBezTo>
                    <a:pt x="770360" y="7382"/>
                    <a:pt x="831433" y="31954"/>
                    <a:pt x="859251" y="72162"/>
                  </a:cubicBezTo>
                  <a:cubicBezTo>
                    <a:pt x="1022173" y="66800"/>
                    <a:pt x="1134891" y="142826"/>
                    <a:pt x="1068437" y="217443"/>
                  </a:cubicBezTo>
                  <a:cubicBezTo>
                    <a:pt x="1092443" y="233123"/>
                    <a:pt x="1112469" y="250662"/>
                    <a:pt x="1119702" y="274202"/>
                  </a:cubicBezTo>
                  <a:cubicBezTo>
                    <a:pt x="1119702" y="280945"/>
                    <a:pt x="1119702" y="287672"/>
                    <a:pt x="1119702" y="294415"/>
                  </a:cubicBezTo>
                  <a:cubicBezTo>
                    <a:pt x="1098148" y="354327"/>
                    <a:pt x="1005400" y="394811"/>
                    <a:pt x="853133" y="383912"/>
                  </a:cubicBezTo>
                  <a:cubicBezTo>
                    <a:pt x="813955" y="414674"/>
                    <a:pt x="744243" y="446207"/>
                    <a:pt x="635765" y="441644"/>
                  </a:cubicBezTo>
                  <a:cubicBezTo>
                    <a:pt x="579694" y="439624"/>
                    <a:pt x="540687" y="427927"/>
                    <a:pt x="506534" y="413716"/>
                  </a:cubicBezTo>
                  <a:cubicBezTo>
                    <a:pt x="470562" y="425529"/>
                    <a:pt x="431603" y="434800"/>
                    <a:pt x="375314" y="434902"/>
                  </a:cubicBezTo>
                  <a:cubicBezTo>
                    <a:pt x="245087" y="435076"/>
                    <a:pt x="157971" y="389565"/>
                    <a:pt x="155859" y="327139"/>
                  </a:cubicBezTo>
                  <a:cubicBezTo>
                    <a:pt x="72140" y="312535"/>
                    <a:pt x="15438" y="285275"/>
                    <a:pt x="0" y="238630"/>
                  </a:cubicBezTo>
                  <a:cubicBezTo>
                    <a:pt x="0" y="231887"/>
                    <a:pt x="0" y="225131"/>
                    <a:pt x="0" y="218417"/>
                  </a:cubicBezTo>
                  <a:cubicBezTo>
                    <a:pt x="17040" y="172194"/>
                    <a:pt x="70660" y="143160"/>
                    <a:pt x="159937" y="130852"/>
                  </a:cubicBezTo>
                  <a:cubicBezTo>
                    <a:pt x="154572" y="52879"/>
                    <a:pt x="333152" y="4156"/>
                    <a:pt x="479859" y="38507"/>
                  </a:cubicBezTo>
                  <a:cubicBezTo>
                    <a:pt x="514788" y="21521"/>
                    <a:pt x="564207" y="2993"/>
                    <a:pt x="635742" y="0"/>
                  </a:cubicBezTo>
                  <a:close/>
                </a:path>
              </a:pathLst>
            </a:custGeom>
            <a:solidFill>
              <a:srgbClr val="FAF7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486" y="121287"/>
              <a:ext cx="1014730" cy="257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87468" y="3867201"/>
            <a:ext cx="4251369" cy="1563583"/>
            <a:chOff x="0" y="0"/>
            <a:chExt cx="1119702" cy="41180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34891" cy="416046"/>
            </a:xfrm>
            <a:custGeom>
              <a:avLst/>
              <a:gdLst/>
              <a:ahLst/>
              <a:cxnLst/>
              <a:rect l="l" t="t" r="r" b="b"/>
              <a:pathLst>
                <a:path w="1134891" h="416046">
                  <a:moveTo>
                    <a:pt x="635742" y="0"/>
                  </a:moveTo>
                  <a:cubicBezTo>
                    <a:pt x="648024" y="0"/>
                    <a:pt x="660379" y="0"/>
                    <a:pt x="672637" y="0"/>
                  </a:cubicBezTo>
                  <a:cubicBezTo>
                    <a:pt x="770360" y="6878"/>
                    <a:pt x="831433" y="29773"/>
                    <a:pt x="859251" y="67237"/>
                  </a:cubicBezTo>
                  <a:cubicBezTo>
                    <a:pt x="1022173" y="62241"/>
                    <a:pt x="1134891" y="133080"/>
                    <a:pt x="1068437" y="202605"/>
                  </a:cubicBezTo>
                  <a:cubicBezTo>
                    <a:pt x="1092443" y="217214"/>
                    <a:pt x="1112469" y="233556"/>
                    <a:pt x="1119702" y="255490"/>
                  </a:cubicBezTo>
                  <a:cubicBezTo>
                    <a:pt x="1119702" y="261773"/>
                    <a:pt x="1119702" y="268041"/>
                    <a:pt x="1119702" y="274323"/>
                  </a:cubicBezTo>
                  <a:cubicBezTo>
                    <a:pt x="1098148" y="330146"/>
                    <a:pt x="1005400" y="367868"/>
                    <a:pt x="853133" y="357713"/>
                  </a:cubicBezTo>
                  <a:cubicBezTo>
                    <a:pt x="813955" y="386376"/>
                    <a:pt x="744243" y="416046"/>
                    <a:pt x="635765" y="411505"/>
                  </a:cubicBezTo>
                  <a:cubicBezTo>
                    <a:pt x="579694" y="409623"/>
                    <a:pt x="540687" y="398724"/>
                    <a:pt x="506534" y="385483"/>
                  </a:cubicBezTo>
                  <a:cubicBezTo>
                    <a:pt x="470562" y="396490"/>
                    <a:pt x="431603" y="405128"/>
                    <a:pt x="375314" y="405223"/>
                  </a:cubicBezTo>
                  <a:cubicBezTo>
                    <a:pt x="245087" y="405386"/>
                    <a:pt x="157971" y="362980"/>
                    <a:pt x="155859" y="304814"/>
                  </a:cubicBezTo>
                  <a:cubicBezTo>
                    <a:pt x="72140" y="291207"/>
                    <a:pt x="15438" y="265807"/>
                    <a:pt x="0" y="222345"/>
                  </a:cubicBezTo>
                  <a:cubicBezTo>
                    <a:pt x="0" y="216063"/>
                    <a:pt x="0" y="209767"/>
                    <a:pt x="0" y="203512"/>
                  </a:cubicBezTo>
                  <a:cubicBezTo>
                    <a:pt x="17040" y="160443"/>
                    <a:pt x="70660" y="133390"/>
                    <a:pt x="159937" y="121923"/>
                  </a:cubicBezTo>
                  <a:cubicBezTo>
                    <a:pt x="154572" y="49270"/>
                    <a:pt x="333152" y="3872"/>
                    <a:pt x="479859" y="35880"/>
                  </a:cubicBezTo>
                  <a:cubicBezTo>
                    <a:pt x="514788" y="20052"/>
                    <a:pt x="564207" y="2789"/>
                    <a:pt x="635742" y="0"/>
                  </a:cubicBezTo>
                  <a:close/>
                </a:path>
              </a:pathLst>
            </a:custGeom>
            <a:solidFill>
              <a:srgbClr val="FAF7F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486" y="116260"/>
              <a:ext cx="1014730" cy="2367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1317464" y="5988330"/>
            <a:ext cx="6781537" cy="2594437"/>
            <a:chOff x="0" y="0"/>
            <a:chExt cx="1786084" cy="68330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86095" cy="683309"/>
            </a:xfrm>
            <a:custGeom>
              <a:avLst/>
              <a:gdLst/>
              <a:ahLst/>
              <a:cxnLst/>
              <a:rect l="l" t="t" r="r" b="b"/>
              <a:pathLst>
                <a:path w="1786095" h="683309">
                  <a:moveTo>
                    <a:pt x="1487074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260686"/>
                  </a:cubicBezTo>
                  <a:cubicBezTo>
                    <a:pt x="0" y="358277"/>
                    <a:pt x="66279" y="453418"/>
                    <a:pt x="162037" y="497560"/>
                  </a:cubicBezTo>
                  <a:lnTo>
                    <a:pt x="162037" y="683309"/>
                  </a:lnTo>
                  <a:lnTo>
                    <a:pt x="353844" y="523841"/>
                  </a:lnTo>
                  <a:lnTo>
                    <a:pt x="1487074" y="523841"/>
                  </a:lnTo>
                  <a:cubicBezTo>
                    <a:pt x="1659646" y="523841"/>
                    <a:pt x="1786084" y="400328"/>
                    <a:pt x="1786084" y="260680"/>
                  </a:cubicBezTo>
                  <a:cubicBezTo>
                    <a:pt x="1786095" y="123512"/>
                    <a:pt x="1659646" y="0"/>
                    <a:pt x="1487074" y="0"/>
                  </a:cubicBezTo>
                  <a:close/>
                </a:path>
              </a:pathLst>
            </a:custGeom>
            <a:solidFill>
              <a:srgbClr val="8AFAF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85725"/>
              <a:ext cx="1786084" cy="4070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43670" y="2908068"/>
            <a:ext cx="6395061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BEFORE PROMPT TUNING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94980" y="2908068"/>
            <a:ext cx="6395061" cy="573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AFTER PROMPT TUNING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846134" y="4531633"/>
            <a:ext cx="4251369" cy="38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  <a:spcBef>
                <a:spcPct val="0"/>
              </a:spcBef>
            </a:pPr>
            <a:r>
              <a:rPr lang="en-US" sz="2416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Teaching a Student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82556" y="5297434"/>
            <a:ext cx="1169475" cy="113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87"/>
              </a:lnSpc>
              <a:spcBef>
                <a:spcPct val="0"/>
              </a:spcBef>
            </a:pPr>
            <a:r>
              <a:rPr lang="en-US" sz="670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686933" y="7218874"/>
            <a:ext cx="6042600" cy="439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03"/>
              </a:lnSpc>
              <a:spcBef>
                <a:spcPct val="0"/>
              </a:spcBef>
            </a:pPr>
            <a:r>
              <a:rPr lang="en-US" sz="2716" b="1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Learn everything from scratch 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66826" y="4442400"/>
            <a:ext cx="4251369" cy="388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  <a:spcBef>
                <a:spcPct val="0"/>
              </a:spcBef>
            </a:pPr>
            <a:r>
              <a:rPr lang="en-US" sz="2416" dirty="0">
                <a:solidFill>
                  <a:srgbClr val="000000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Teaching a Student</a:t>
            </a:r>
          </a:p>
        </p:txBody>
      </p:sp>
      <p:grpSp>
        <p:nvGrpSpPr>
          <p:cNvPr id="28" name="Group 28"/>
          <p:cNvGrpSpPr/>
          <p:nvPr/>
        </p:nvGrpSpPr>
        <p:grpSpPr>
          <a:xfrm rot="-10800000">
            <a:off x="10023435" y="6023852"/>
            <a:ext cx="6666606" cy="2935864"/>
            <a:chOff x="0" y="0"/>
            <a:chExt cx="1755814" cy="77323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755825" cy="773232"/>
            </a:xfrm>
            <a:custGeom>
              <a:avLst/>
              <a:gdLst/>
              <a:ahLst/>
              <a:cxnLst/>
              <a:rect l="l" t="t" r="r" b="b"/>
              <a:pathLst>
                <a:path w="1755825" h="773232">
                  <a:moveTo>
                    <a:pt x="1457320" y="0"/>
                  </a:moveTo>
                  <a:lnTo>
                    <a:pt x="282407" y="0"/>
                  </a:lnTo>
                  <a:cubicBezTo>
                    <a:pt x="126426" y="0"/>
                    <a:pt x="0" y="123512"/>
                    <a:pt x="0" y="309642"/>
                  </a:cubicBezTo>
                  <a:cubicBezTo>
                    <a:pt x="0" y="448201"/>
                    <a:pt x="66279" y="543341"/>
                    <a:pt x="162037" y="587483"/>
                  </a:cubicBezTo>
                  <a:lnTo>
                    <a:pt x="162037" y="773232"/>
                  </a:lnTo>
                  <a:lnTo>
                    <a:pt x="353844" y="613764"/>
                  </a:lnTo>
                  <a:lnTo>
                    <a:pt x="1457320" y="613764"/>
                  </a:lnTo>
                  <a:cubicBezTo>
                    <a:pt x="1629377" y="613764"/>
                    <a:pt x="1755814" y="490252"/>
                    <a:pt x="1755814" y="309622"/>
                  </a:cubicBezTo>
                  <a:cubicBezTo>
                    <a:pt x="1755825" y="123512"/>
                    <a:pt x="1629377" y="0"/>
                    <a:pt x="1457320" y="0"/>
                  </a:cubicBezTo>
                  <a:close/>
                </a:path>
              </a:pathLst>
            </a:custGeom>
            <a:solidFill>
              <a:srgbClr val="8AFAFC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85725"/>
              <a:ext cx="1755814" cy="497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5836077" y="4984593"/>
            <a:ext cx="1169475" cy="113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87"/>
              </a:lnSpc>
              <a:spcBef>
                <a:spcPct val="0"/>
              </a:spcBef>
            </a:pPr>
            <a:r>
              <a:rPr lang="en-US" sz="670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520648" y="7199097"/>
            <a:ext cx="5900166" cy="137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3"/>
              </a:lnSpc>
              <a:spcBef>
                <a:spcPct val="0"/>
              </a:spcBef>
            </a:pPr>
            <a:r>
              <a:rPr lang="en-US" sz="2616" b="1" i="1" dirty="0">
                <a:solidFill>
                  <a:srgbClr val="000000"/>
                </a:solidFill>
                <a:latin typeface="Lato Bold Italics"/>
                <a:ea typeface="Lato Bold Italics"/>
                <a:cs typeface="Lato Bold Italics"/>
                <a:sym typeface="Lato Bold Italics"/>
              </a:rPr>
              <a:t>Learn specific question give them smart hints and reminders to solve a particular type of question. 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17464" y="697547"/>
            <a:ext cx="15941836" cy="127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4"/>
              </a:lnSpc>
            </a:pPr>
            <a:r>
              <a:rPr lang="en-US" sz="8765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Example :  Prompt Tuning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85548" y="-862788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120351" y="72009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3" y="0"/>
                </a:lnTo>
                <a:lnTo>
                  <a:pt x="69284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160498" y="1964765"/>
            <a:ext cx="6464333" cy="6826407"/>
          </a:xfrm>
          <a:custGeom>
            <a:avLst/>
            <a:gdLst/>
            <a:ahLst/>
            <a:cxnLst/>
            <a:rect l="l" t="t" r="r" b="b"/>
            <a:pathLst>
              <a:path w="6464333" h="6826407">
                <a:moveTo>
                  <a:pt x="0" y="0"/>
                </a:moveTo>
                <a:lnTo>
                  <a:pt x="6464334" y="0"/>
                </a:lnTo>
                <a:lnTo>
                  <a:pt x="6464334" y="6826406"/>
                </a:lnTo>
                <a:lnTo>
                  <a:pt x="0" y="6826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715492" y="-40886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872044" y="1581260"/>
            <a:ext cx="12097505" cy="4086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88"/>
              </a:lnSpc>
            </a:pPr>
            <a:r>
              <a:rPr lang="en-US" sz="899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When to use </a:t>
            </a:r>
          </a:p>
          <a:p>
            <a:pPr algn="l">
              <a:lnSpc>
                <a:spcPts val="10788"/>
              </a:lnSpc>
            </a:pPr>
            <a:r>
              <a:rPr lang="en-US" sz="899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Prompt Tuning?</a:t>
            </a:r>
          </a:p>
          <a:p>
            <a:pPr algn="l">
              <a:lnSpc>
                <a:spcPts val="10788"/>
              </a:lnSpc>
            </a:pPr>
            <a:endParaRPr lang="en-US" sz="8990">
              <a:solidFill>
                <a:srgbClr val="FFFFFF"/>
              </a:solidFill>
              <a:latin typeface="Pattanakarn"/>
              <a:ea typeface="Pattanakarn"/>
              <a:cs typeface="Pattanakarn"/>
              <a:sym typeface="Pattanakar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2044" y="4627879"/>
            <a:ext cx="8946079" cy="5297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5" lvl="1" indent="-367027" algn="just">
              <a:lnSpc>
                <a:spcPts val="5269"/>
              </a:lnSpc>
              <a:buFont typeface="Arial"/>
              <a:buChar char="•"/>
            </a:pPr>
            <a:r>
              <a:rPr lang="en-US" sz="3399" b="1" spc="214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Optimize performance on specific tasks/queries.</a:t>
            </a:r>
          </a:p>
          <a:p>
            <a:pPr marL="734055" lvl="1" indent="-367027" algn="just">
              <a:lnSpc>
                <a:spcPts val="5269"/>
              </a:lnSpc>
              <a:buFont typeface="Arial"/>
              <a:buChar char="•"/>
            </a:pPr>
            <a:r>
              <a:rPr lang="en-US" sz="3399" b="1" spc="214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When full fine-tuning is too costly or unnecessary.</a:t>
            </a:r>
          </a:p>
          <a:p>
            <a:pPr marL="734055" lvl="1" indent="-367027" algn="just">
              <a:lnSpc>
                <a:spcPts val="5269"/>
              </a:lnSpc>
              <a:buFont typeface="Arial"/>
              <a:buChar char="•"/>
            </a:pPr>
            <a:r>
              <a:rPr lang="en-US" sz="3399" b="1" spc="214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Faster adaptation with less data.</a:t>
            </a:r>
          </a:p>
          <a:p>
            <a:pPr marL="734055" lvl="1" indent="-367027" algn="just">
              <a:lnSpc>
                <a:spcPts val="5269"/>
              </a:lnSpc>
              <a:buFont typeface="Arial"/>
              <a:buChar char="•"/>
            </a:pPr>
            <a:r>
              <a:rPr lang="en-US" sz="3399" b="1" spc="214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Improve accuracy of output generation efficiently.</a:t>
            </a:r>
          </a:p>
          <a:p>
            <a:pPr algn="just">
              <a:lnSpc>
                <a:spcPts val="5269"/>
              </a:lnSpc>
            </a:pPr>
            <a:endParaRPr lang="en-US" sz="3399" b="1" spc="214">
              <a:solidFill>
                <a:srgbClr val="FFFFFF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sp>
        <p:nvSpPr>
          <p:cNvPr id="9" name="Freeform 9"/>
          <p:cNvSpPr/>
          <p:nvPr/>
        </p:nvSpPr>
        <p:spPr>
          <a:xfrm rot="-2700000">
            <a:off x="-3532589" y="-824990"/>
            <a:ext cx="10204385" cy="6060389"/>
          </a:xfrm>
          <a:custGeom>
            <a:avLst/>
            <a:gdLst/>
            <a:ahLst/>
            <a:cxnLst/>
            <a:rect l="l" t="t" r="r" b="b"/>
            <a:pathLst>
              <a:path w="10204385" h="6060389">
                <a:moveTo>
                  <a:pt x="0" y="0"/>
                </a:moveTo>
                <a:lnTo>
                  <a:pt x="10204385" y="0"/>
                </a:lnTo>
                <a:lnTo>
                  <a:pt x="10204385" y="6060389"/>
                </a:lnTo>
                <a:lnTo>
                  <a:pt x="0" y="60603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8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571271" y="-3708211"/>
            <a:ext cx="10008973" cy="8229600"/>
          </a:xfrm>
          <a:custGeom>
            <a:avLst/>
            <a:gdLst/>
            <a:ahLst/>
            <a:cxnLst/>
            <a:rect l="l" t="t" r="r" b="b"/>
            <a:pathLst>
              <a:path w="10008973" h="8229600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5811039" y="4636180"/>
            <a:ext cx="10008973" cy="8229600"/>
          </a:xfrm>
          <a:custGeom>
            <a:avLst/>
            <a:gdLst/>
            <a:ahLst/>
            <a:cxnLst/>
            <a:rect l="l" t="t" r="r" b="b"/>
            <a:pathLst>
              <a:path w="10008973" h="8229600">
                <a:moveTo>
                  <a:pt x="0" y="0"/>
                </a:moveTo>
                <a:lnTo>
                  <a:pt x="10008973" y="0"/>
                </a:lnTo>
                <a:lnTo>
                  <a:pt x="100089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598221" y="3531890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30" y="0"/>
                </a:lnTo>
                <a:lnTo>
                  <a:pt x="2113330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378426" y="3464724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0157163" y="3531890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3949339" y="3531890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29"/>
                </a:lnTo>
                <a:lnTo>
                  <a:pt x="0" y="21133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001968" y="4260492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83593" y="4195677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60909" y="4262843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49389" y="4262843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32252" y="5902274"/>
            <a:ext cx="3121512" cy="389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2750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Learn the Pattern: </a:t>
            </a:r>
          </a:p>
          <a:p>
            <a:pPr algn="ctr">
              <a:lnSpc>
                <a:spcPts val="3806"/>
              </a:lnSpc>
            </a:pPr>
            <a:r>
              <a:rPr lang="en-US" sz="2349">
                <a:solidFill>
                  <a:srgbClr val="FAF7F4"/>
                </a:solidFill>
                <a:latin typeface="Poppins Light"/>
                <a:ea typeface="Poppins Light"/>
                <a:cs typeface="Poppins Light"/>
                <a:sym typeface="Poppins Light"/>
              </a:rPr>
              <a:t>Only the soft prompts get updated - they learn the "secret sauce" for better responses</a:t>
            </a:r>
          </a:p>
          <a:p>
            <a:pPr algn="ctr">
              <a:lnSpc>
                <a:spcPts val="2999"/>
              </a:lnSpc>
            </a:pPr>
            <a:endParaRPr lang="en-US" sz="2349">
              <a:solidFill>
                <a:srgbClr val="FAF7F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" name="AutoShape 13"/>
          <p:cNvSpPr/>
          <p:nvPr/>
        </p:nvSpPr>
        <p:spPr>
          <a:xfrm flipV="1">
            <a:off x="12270492" y="4612367"/>
            <a:ext cx="1702780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071" y="5902274"/>
            <a:ext cx="3121512" cy="2950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2750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Smart Training</a:t>
            </a:r>
            <a:r>
              <a:rPr lang="en-US" sz="275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: </a:t>
            </a:r>
          </a:p>
          <a:p>
            <a:pPr algn="ctr">
              <a:lnSpc>
                <a:spcPts val="3806"/>
              </a:lnSpc>
            </a:pPr>
            <a:r>
              <a:rPr lang="en-US" sz="2349">
                <a:solidFill>
                  <a:srgbClr val="FAF7F4"/>
                </a:solidFill>
                <a:latin typeface="Poppins"/>
                <a:ea typeface="Poppins"/>
                <a:cs typeface="Poppins"/>
                <a:sym typeface="Poppins"/>
              </a:rPr>
              <a:t>Show many examples of what good responses look like for specific tasks</a:t>
            </a:r>
          </a:p>
          <a:p>
            <a:pPr algn="ctr">
              <a:lnSpc>
                <a:spcPts val="3806"/>
              </a:lnSpc>
            </a:pPr>
            <a:endParaRPr lang="en-US" sz="2349">
              <a:solidFill>
                <a:srgbClr val="FAF7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5874334" y="5902274"/>
            <a:ext cx="3121512" cy="3382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2750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Add Soft Prompts: </a:t>
            </a:r>
          </a:p>
          <a:p>
            <a:pPr algn="ctr">
              <a:lnSpc>
                <a:spcPts val="3726"/>
              </a:lnSpc>
            </a:pPr>
            <a:r>
              <a:rPr lang="en-US" sz="2300">
                <a:solidFill>
                  <a:srgbClr val="FAF7F4"/>
                </a:solidFill>
                <a:latin typeface="Poppins Light"/>
                <a:ea typeface="Poppins Light"/>
                <a:cs typeface="Poppins Light"/>
                <a:sym typeface="Poppins Light"/>
              </a:rPr>
              <a:t>Insert these special numerical sequences before your input</a:t>
            </a:r>
          </a:p>
          <a:p>
            <a:pPr algn="ctr">
              <a:lnSpc>
                <a:spcPts val="2999"/>
              </a:lnSpc>
            </a:pPr>
            <a:endParaRPr lang="en-US" sz="2300">
              <a:solidFill>
                <a:srgbClr val="FAF7F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" name="AutoShape 16"/>
          <p:cNvSpPr/>
          <p:nvPr/>
        </p:nvSpPr>
        <p:spPr>
          <a:xfrm flipV="1">
            <a:off x="8454383" y="4612367"/>
            <a:ext cx="1702780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 flipV="1">
            <a:off x="4675646" y="4545201"/>
            <a:ext cx="1702780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2095597" y="5902274"/>
            <a:ext cx="3121512" cy="34262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57"/>
              </a:lnSpc>
            </a:pPr>
            <a:r>
              <a:rPr lang="en-US" sz="2751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Freeze the Core:</a:t>
            </a:r>
          </a:p>
          <a:p>
            <a:pPr algn="ctr">
              <a:lnSpc>
                <a:spcPts val="3809"/>
              </a:lnSpc>
            </a:pPr>
            <a:r>
              <a:rPr lang="en-US" sz="2351">
                <a:solidFill>
                  <a:srgbClr val="FAF7F4"/>
                </a:solidFill>
                <a:latin typeface="Poppins Light"/>
                <a:ea typeface="Poppins Light"/>
                <a:cs typeface="Poppins Light"/>
                <a:sym typeface="Poppins Light"/>
              </a:rPr>
              <a:t> The main model stays completely unchanged (like keeping the engine of a car untouched)</a:t>
            </a:r>
          </a:p>
          <a:p>
            <a:pPr algn="ctr">
              <a:lnSpc>
                <a:spcPts val="3809"/>
              </a:lnSpc>
            </a:pPr>
            <a:endParaRPr lang="en-US" sz="2351">
              <a:solidFill>
                <a:srgbClr val="FAF7F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001968" y="549955"/>
            <a:ext cx="12306694" cy="4086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88"/>
              </a:lnSpc>
            </a:pPr>
            <a:r>
              <a:rPr lang="en-US" sz="899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How Prompt Tuning works?</a:t>
            </a:r>
          </a:p>
          <a:p>
            <a:pPr algn="ctr">
              <a:lnSpc>
                <a:spcPts val="10788"/>
              </a:lnSpc>
            </a:pPr>
            <a:endParaRPr lang="en-US" sz="8990">
              <a:solidFill>
                <a:srgbClr val="FFFFFF"/>
              </a:solidFill>
              <a:latin typeface="Pattanakarn"/>
              <a:ea typeface="Pattanakarn"/>
              <a:cs typeface="Pattanakarn"/>
              <a:sym typeface="Pattanakar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719707" y="-324550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6277773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350659" y="7761728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4" y="0"/>
                </a:lnTo>
                <a:lnTo>
                  <a:pt x="6928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144000" y="5965731"/>
            <a:ext cx="3631883" cy="3240012"/>
          </a:xfrm>
          <a:custGeom>
            <a:avLst/>
            <a:gdLst/>
            <a:ahLst/>
            <a:cxnLst/>
            <a:rect l="l" t="t" r="r" b="b"/>
            <a:pathLst>
              <a:path w="3631883" h="3240012">
                <a:moveTo>
                  <a:pt x="0" y="0"/>
                </a:moveTo>
                <a:lnTo>
                  <a:pt x="3631883" y="0"/>
                </a:lnTo>
                <a:lnTo>
                  <a:pt x="3631883" y="3240011"/>
                </a:lnTo>
                <a:lnTo>
                  <a:pt x="0" y="324001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1323751" y="-1011243"/>
            <a:ext cx="7263603" cy="9147384"/>
            <a:chOff x="0" y="0"/>
            <a:chExt cx="1913048" cy="24091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048" cy="2409188"/>
            </a:xfrm>
            <a:custGeom>
              <a:avLst/>
              <a:gdLst/>
              <a:ahLst/>
              <a:cxnLst/>
              <a:rect l="l" t="t" r="r" b="b"/>
              <a:pathLst>
                <a:path w="1913048" h="2409188">
                  <a:moveTo>
                    <a:pt x="54358" y="0"/>
                  </a:moveTo>
                  <a:lnTo>
                    <a:pt x="1858689" y="0"/>
                  </a:lnTo>
                  <a:cubicBezTo>
                    <a:pt x="1888711" y="0"/>
                    <a:pt x="1913048" y="24337"/>
                    <a:pt x="1913048" y="54358"/>
                  </a:cubicBezTo>
                  <a:lnTo>
                    <a:pt x="1913048" y="2354829"/>
                  </a:lnTo>
                  <a:cubicBezTo>
                    <a:pt x="1913048" y="2384851"/>
                    <a:pt x="1888711" y="2409188"/>
                    <a:pt x="1858689" y="2409188"/>
                  </a:cubicBezTo>
                  <a:lnTo>
                    <a:pt x="54358" y="2409188"/>
                  </a:lnTo>
                  <a:cubicBezTo>
                    <a:pt x="39942" y="2409188"/>
                    <a:pt x="26115" y="2403461"/>
                    <a:pt x="15921" y="2393267"/>
                  </a:cubicBezTo>
                  <a:cubicBezTo>
                    <a:pt x="5727" y="2383072"/>
                    <a:pt x="0" y="2369246"/>
                    <a:pt x="0" y="2354829"/>
                  </a:cubicBezTo>
                  <a:lnTo>
                    <a:pt x="0" y="54358"/>
                  </a:lnTo>
                  <a:cubicBezTo>
                    <a:pt x="0" y="24337"/>
                    <a:pt x="24337" y="0"/>
                    <a:pt x="543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>
                  <a:alpha val="2588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47625"/>
              <a:ext cx="1913048" cy="23615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088613" y="1211178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5"/>
                </a:lnTo>
                <a:lnTo>
                  <a:pt x="0" y="470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9319398" y="1268328"/>
            <a:ext cx="7939902" cy="379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4"/>
              </a:lnSpc>
            </a:pPr>
            <a:r>
              <a:rPr lang="en-US" sz="8765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Advantages of Prompt Tuning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52752" y="1144503"/>
            <a:ext cx="5314198" cy="109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D7FD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EFFICIENCY</a:t>
            </a:r>
          </a:p>
          <a:p>
            <a:pPr algn="l">
              <a:lnSpc>
                <a:spcPts val="4411"/>
              </a:lnSpc>
              <a:spcBef>
                <a:spcPct val="0"/>
              </a:spcBef>
            </a:pPr>
            <a:endParaRPr lang="en-US" sz="3150" b="1">
              <a:solidFill>
                <a:srgbClr val="D7FDFF"/>
              </a:solidFill>
              <a:latin typeface="Cy Grotesk Key Bold"/>
              <a:ea typeface="Cy Grotesk Key Bold"/>
              <a:cs typeface="Cy Grotesk Key Bold"/>
              <a:sym typeface="Cy Grotesk Key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52752" y="4507017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D7FD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REDUCED OVERFITTING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52752" y="5662846"/>
            <a:ext cx="5856649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D7FD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FLEXIBILITY</a:t>
            </a:r>
          </a:p>
        </p:txBody>
      </p:sp>
      <p:sp>
        <p:nvSpPr>
          <p:cNvPr id="14" name="Freeform 14"/>
          <p:cNvSpPr/>
          <p:nvPr/>
        </p:nvSpPr>
        <p:spPr>
          <a:xfrm>
            <a:off x="1028700" y="4546507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6" y="0"/>
                </a:lnTo>
                <a:lnTo>
                  <a:pt x="470276" y="470275"/>
                </a:lnTo>
                <a:lnTo>
                  <a:pt x="0" y="470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028700" y="5710471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6" y="0"/>
                </a:lnTo>
                <a:lnTo>
                  <a:pt x="470276" y="470275"/>
                </a:lnTo>
                <a:lnTo>
                  <a:pt x="0" y="470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812665" y="2281520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D7FD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SCALABILITY</a:t>
            </a:r>
          </a:p>
        </p:txBody>
      </p:sp>
      <p:sp>
        <p:nvSpPr>
          <p:cNvPr id="17" name="Freeform 17"/>
          <p:cNvSpPr/>
          <p:nvPr/>
        </p:nvSpPr>
        <p:spPr>
          <a:xfrm>
            <a:off x="1088613" y="2338670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5"/>
                </a:lnTo>
                <a:lnTo>
                  <a:pt x="0" y="470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812665" y="3430697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D7FD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TASK GENERALIZATION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1060038" y="3470187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5"/>
                </a:lnTo>
                <a:lnTo>
                  <a:pt x="0" y="4702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5375" y="2442784"/>
            <a:ext cx="7263603" cy="6506333"/>
            <a:chOff x="0" y="0"/>
            <a:chExt cx="1913048" cy="17136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048" cy="1713602"/>
            </a:xfrm>
            <a:custGeom>
              <a:avLst/>
              <a:gdLst/>
              <a:ahLst/>
              <a:cxnLst/>
              <a:rect l="l" t="t" r="r" b="b"/>
              <a:pathLst>
                <a:path w="1913048" h="1713602">
                  <a:moveTo>
                    <a:pt x="54358" y="0"/>
                  </a:moveTo>
                  <a:lnTo>
                    <a:pt x="1858689" y="0"/>
                  </a:lnTo>
                  <a:cubicBezTo>
                    <a:pt x="1888711" y="0"/>
                    <a:pt x="1913048" y="24337"/>
                    <a:pt x="1913048" y="54358"/>
                  </a:cubicBezTo>
                  <a:lnTo>
                    <a:pt x="1913048" y="1659244"/>
                  </a:lnTo>
                  <a:cubicBezTo>
                    <a:pt x="1913048" y="1689265"/>
                    <a:pt x="1888711" y="1713602"/>
                    <a:pt x="1858689" y="1713602"/>
                  </a:cubicBezTo>
                  <a:lnTo>
                    <a:pt x="54358" y="1713602"/>
                  </a:lnTo>
                  <a:cubicBezTo>
                    <a:pt x="24337" y="1713602"/>
                    <a:pt x="0" y="1689265"/>
                    <a:pt x="0" y="1659244"/>
                  </a:cubicBezTo>
                  <a:lnTo>
                    <a:pt x="0" y="54358"/>
                  </a:lnTo>
                  <a:cubicBezTo>
                    <a:pt x="0" y="24337"/>
                    <a:pt x="24337" y="0"/>
                    <a:pt x="543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>
                  <a:alpha val="2588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913048" cy="1665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510530" y="6076472"/>
            <a:ext cx="3748770" cy="3344286"/>
          </a:xfrm>
          <a:custGeom>
            <a:avLst/>
            <a:gdLst/>
            <a:ahLst/>
            <a:cxnLst/>
            <a:rect l="l" t="t" r="r" b="b"/>
            <a:pathLst>
              <a:path w="3748770" h="3344286">
                <a:moveTo>
                  <a:pt x="0" y="0"/>
                </a:moveTo>
                <a:lnTo>
                  <a:pt x="3748770" y="0"/>
                </a:lnTo>
                <a:lnTo>
                  <a:pt x="3748770" y="3344286"/>
                </a:lnTo>
                <a:lnTo>
                  <a:pt x="0" y="33442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319398" y="1268328"/>
            <a:ext cx="7939902" cy="3792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4"/>
              </a:lnSpc>
            </a:pPr>
            <a:r>
              <a:rPr lang="en-US" sz="8765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Limitations of Prompt Tuning</a:t>
            </a:r>
          </a:p>
        </p:txBody>
      </p:sp>
      <p:sp>
        <p:nvSpPr>
          <p:cNvPr id="7" name="Freeform 7"/>
          <p:cNvSpPr/>
          <p:nvPr/>
        </p:nvSpPr>
        <p:spPr>
          <a:xfrm>
            <a:off x="-31262" y="7714316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41013" y="3150828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6"/>
                </a:lnTo>
                <a:lnTo>
                  <a:pt x="0" y="4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905152" y="3093678"/>
            <a:ext cx="5314198" cy="104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0" b="1">
                <a:solidFill>
                  <a:srgbClr val="D7FD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TASK GENERALIZATION IS LIMITED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65065" y="5013132"/>
            <a:ext cx="5314198" cy="1046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0" b="1">
                <a:solidFill>
                  <a:srgbClr val="D7FD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MAY STILL NEED DOMAIN-SPECIFIC DATA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41013" y="5043096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6"/>
                </a:lnTo>
                <a:lnTo>
                  <a:pt x="0" y="4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905152" y="6889013"/>
            <a:ext cx="5314198" cy="1579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1"/>
              </a:lnSpc>
              <a:spcBef>
                <a:spcPct val="0"/>
              </a:spcBef>
            </a:pPr>
            <a:r>
              <a:rPr lang="en-US" sz="3050" b="1">
                <a:solidFill>
                  <a:srgbClr val="D7FD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SOMETIMES LESS ACCURATE THAN FULL FINE-TUNING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41013" y="6905399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6"/>
                </a:lnTo>
                <a:lnTo>
                  <a:pt x="0" y="4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601200" y="876300"/>
            <a:ext cx="7263603" cy="6506333"/>
            <a:chOff x="0" y="0"/>
            <a:chExt cx="1913048" cy="171360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048" cy="1713602"/>
            </a:xfrm>
            <a:custGeom>
              <a:avLst/>
              <a:gdLst/>
              <a:ahLst/>
              <a:cxnLst/>
              <a:rect l="l" t="t" r="r" b="b"/>
              <a:pathLst>
                <a:path w="1913048" h="1713602">
                  <a:moveTo>
                    <a:pt x="54358" y="0"/>
                  </a:moveTo>
                  <a:lnTo>
                    <a:pt x="1858689" y="0"/>
                  </a:lnTo>
                  <a:cubicBezTo>
                    <a:pt x="1888711" y="0"/>
                    <a:pt x="1913048" y="24337"/>
                    <a:pt x="1913048" y="54358"/>
                  </a:cubicBezTo>
                  <a:lnTo>
                    <a:pt x="1913048" y="1659244"/>
                  </a:lnTo>
                  <a:cubicBezTo>
                    <a:pt x="1913048" y="1689265"/>
                    <a:pt x="1888711" y="1713602"/>
                    <a:pt x="1858689" y="1713602"/>
                  </a:cubicBezTo>
                  <a:lnTo>
                    <a:pt x="54358" y="1713602"/>
                  </a:lnTo>
                  <a:cubicBezTo>
                    <a:pt x="24337" y="1713602"/>
                    <a:pt x="0" y="1689265"/>
                    <a:pt x="0" y="1659244"/>
                  </a:cubicBezTo>
                  <a:lnTo>
                    <a:pt x="0" y="54358"/>
                  </a:lnTo>
                  <a:cubicBezTo>
                    <a:pt x="0" y="24337"/>
                    <a:pt x="24337" y="0"/>
                    <a:pt x="543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>
                  <a:alpha val="25882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913048" cy="16659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836742" y="5475384"/>
            <a:ext cx="4422558" cy="3945374"/>
          </a:xfrm>
          <a:custGeom>
            <a:avLst/>
            <a:gdLst/>
            <a:ahLst/>
            <a:cxnLst/>
            <a:rect l="l" t="t" r="r" b="b"/>
            <a:pathLst>
              <a:path w="4422558" h="3945374">
                <a:moveTo>
                  <a:pt x="0" y="0"/>
                </a:moveTo>
                <a:lnTo>
                  <a:pt x="4422558" y="0"/>
                </a:lnTo>
                <a:lnTo>
                  <a:pt x="4422558" y="3945374"/>
                </a:lnTo>
                <a:lnTo>
                  <a:pt x="0" y="3945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9319398" y="1268328"/>
            <a:ext cx="7939902" cy="2535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4"/>
              </a:lnSpc>
            </a:pPr>
            <a:r>
              <a:rPr lang="en-US" sz="8765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Real-World Applications</a:t>
            </a:r>
          </a:p>
        </p:txBody>
      </p:sp>
      <p:sp>
        <p:nvSpPr>
          <p:cNvPr id="7" name="Freeform 7"/>
          <p:cNvSpPr/>
          <p:nvPr/>
        </p:nvSpPr>
        <p:spPr>
          <a:xfrm>
            <a:off x="-413319" y="7971954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7"/>
                </a:lnTo>
                <a:lnTo>
                  <a:pt x="0" y="4258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41013" y="1363578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5"/>
                </a:lnTo>
                <a:lnTo>
                  <a:pt x="0" y="4702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905152" y="1296903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8AFAF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HEALTHCARE</a:t>
            </a:r>
            <a:r>
              <a:rPr lang="en-US" sz="3150">
                <a:solidFill>
                  <a:srgbClr val="44A5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95627" y="2615801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8AFAF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CUSTOMER SUPPORT</a:t>
            </a:r>
          </a:p>
        </p:txBody>
      </p:sp>
      <p:sp>
        <p:nvSpPr>
          <p:cNvPr id="11" name="Freeform 11"/>
          <p:cNvSpPr/>
          <p:nvPr/>
        </p:nvSpPr>
        <p:spPr>
          <a:xfrm>
            <a:off x="1241013" y="2655290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6"/>
                </a:lnTo>
                <a:lnTo>
                  <a:pt x="0" y="4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1905152" y="3892101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8AFAF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FINANCE </a:t>
            </a:r>
          </a:p>
        </p:txBody>
      </p:sp>
      <p:sp>
        <p:nvSpPr>
          <p:cNvPr id="13" name="Freeform 13"/>
          <p:cNvSpPr/>
          <p:nvPr/>
        </p:nvSpPr>
        <p:spPr>
          <a:xfrm>
            <a:off x="1241013" y="3918013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6"/>
                </a:lnTo>
                <a:lnTo>
                  <a:pt x="0" y="4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965065" y="5172499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8AFAF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EDUCATION </a:t>
            </a:r>
          </a:p>
        </p:txBody>
      </p:sp>
      <p:sp>
        <p:nvSpPr>
          <p:cNvPr id="15" name="Freeform 15"/>
          <p:cNvSpPr/>
          <p:nvPr/>
        </p:nvSpPr>
        <p:spPr>
          <a:xfrm>
            <a:off x="1250538" y="5184803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6"/>
                </a:lnTo>
                <a:lnTo>
                  <a:pt x="0" y="4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914677" y="6476892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8AFAF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E-COMMERCE</a:t>
            </a:r>
          </a:p>
        </p:txBody>
      </p:sp>
      <p:sp>
        <p:nvSpPr>
          <p:cNvPr id="17" name="Freeform 17"/>
          <p:cNvSpPr/>
          <p:nvPr/>
        </p:nvSpPr>
        <p:spPr>
          <a:xfrm>
            <a:off x="1250538" y="6502804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5"/>
                </a:lnTo>
                <a:lnTo>
                  <a:pt x="0" y="4702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981352" y="7803795"/>
            <a:ext cx="5314198" cy="539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 b="1">
                <a:solidFill>
                  <a:srgbClr val="8AFAFC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LEGAL </a:t>
            </a:r>
          </a:p>
        </p:txBody>
      </p:sp>
      <p:sp>
        <p:nvSpPr>
          <p:cNvPr id="19" name="Freeform 19"/>
          <p:cNvSpPr/>
          <p:nvPr/>
        </p:nvSpPr>
        <p:spPr>
          <a:xfrm>
            <a:off x="1250538" y="7851420"/>
            <a:ext cx="470276" cy="470276"/>
          </a:xfrm>
          <a:custGeom>
            <a:avLst/>
            <a:gdLst/>
            <a:ahLst/>
            <a:cxnLst/>
            <a:rect l="l" t="t" r="r" b="b"/>
            <a:pathLst>
              <a:path w="470276" h="470276">
                <a:moveTo>
                  <a:pt x="0" y="0"/>
                </a:moveTo>
                <a:lnTo>
                  <a:pt x="470275" y="0"/>
                </a:lnTo>
                <a:lnTo>
                  <a:pt x="470275" y="470276"/>
                </a:lnTo>
                <a:lnTo>
                  <a:pt x="0" y="4702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05362" y="-1058517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>
            <a:off x="-2312313" y="-77131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58104" y="3631277"/>
            <a:ext cx="17771791" cy="5925733"/>
          </a:xfrm>
          <a:custGeom>
            <a:avLst/>
            <a:gdLst/>
            <a:ahLst/>
            <a:cxnLst/>
            <a:rect l="l" t="t" r="r" b="b"/>
            <a:pathLst>
              <a:path w="17771791" h="5925733">
                <a:moveTo>
                  <a:pt x="0" y="0"/>
                </a:moveTo>
                <a:lnTo>
                  <a:pt x="17771792" y="0"/>
                </a:lnTo>
                <a:lnTo>
                  <a:pt x="17771792" y="5925733"/>
                </a:lnTo>
                <a:lnTo>
                  <a:pt x="0" y="59257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5675890" y="82296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4" y="0"/>
                </a:lnTo>
                <a:lnTo>
                  <a:pt x="6928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618666" y="4614545"/>
            <a:ext cx="5985658" cy="5339820"/>
          </a:xfrm>
          <a:custGeom>
            <a:avLst/>
            <a:gdLst/>
            <a:ahLst/>
            <a:cxnLst/>
            <a:rect l="l" t="t" r="r" b="b"/>
            <a:pathLst>
              <a:path w="5985658" h="5339820">
                <a:moveTo>
                  <a:pt x="0" y="0"/>
                </a:moveTo>
                <a:lnTo>
                  <a:pt x="5985658" y="0"/>
                </a:lnTo>
                <a:lnTo>
                  <a:pt x="5985658" y="5339820"/>
                </a:lnTo>
                <a:lnTo>
                  <a:pt x="0" y="53398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729073" y="916548"/>
            <a:ext cx="12126816" cy="3531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22"/>
              </a:lnSpc>
            </a:pPr>
            <a:r>
              <a:rPr lang="en-US" sz="12232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Instruction Fine-Tuning</a:t>
            </a:r>
          </a:p>
        </p:txBody>
      </p:sp>
      <p:sp>
        <p:nvSpPr>
          <p:cNvPr id="9" name="Freeform 9"/>
          <p:cNvSpPr/>
          <p:nvPr/>
        </p:nvSpPr>
        <p:spPr>
          <a:xfrm>
            <a:off x="13627599" y="58847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-3661078" y="608932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3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3457762" y="-906117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675890" y="82296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4" y="0"/>
                </a:lnTo>
                <a:lnTo>
                  <a:pt x="6928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385229" y="809858"/>
            <a:ext cx="19411663" cy="135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546"/>
              </a:lnSpc>
            </a:pPr>
            <a:r>
              <a:rPr lang="en-US" sz="9333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Instruction Fine-Tuning</a:t>
            </a:r>
          </a:p>
        </p:txBody>
      </p:sp>
      <p:sp>
        <p:nvSpPr>
          <p:cNvPr id="5" name="Freeform 5"/>
          <p:cNvSpPr/>
          <p:nvPr/>
        </p:nvSpPr>
        <p:spPr>
          <a:xfrm>
            <a:off x="13627599" y="58847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3661078" y="608932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837842" y="3209852"/>
            <a:ext cx="14769552" cy="1647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4067" lvl="1" indent="-412034" algn="l">
              <a:lnSpc>
                <a:spcPts val="6755"/>
              </a:lnSpc>
              <a:buFont typeface="Arial"/>
              <a:buChar char="•"/>
            </a:pPr>
            <a:r>
              <a:rPr lang="en-US" sz="3816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Extends the base LLM’s ability to follow natural language instructions.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37842" y="5094208"/>
            <a:ext cx="13037188" cy="79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4067" lvl="1" indent="-412034" algn="l">
              <a:lnSpc>
                <a:spcPts val="6755"/>
              </a:lnSpc>
              <a:buFont typeface="Arial"/>
              <a:buChar char="•"/>
            </a:pPr>
            <a:r>
              <a:rPr lang="en-US" sz="3816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Uses a large dataset of instruction–response pairs.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37842" y="7439105"/>
            <a:ext cx="10309078" cy="79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4067" lvl="1" indent="-412034" algn="l">
              <a:lnSpc>
                <a:spcPts val="6755"/>
              </a:lnSpc>
              <a:buFont typeface="Arial"/>
              <a:buChar char="•"/>
            </a:pPr>
            <a:r>
              <a:rPr lang="en-US" sz="3816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This updates the model weights.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37842" y="6266656"/>
            <a:ext cx="11789756" cy="790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4067" lvl="1" indent="-412034" algn="l">
              <a:lnSpc>
                <a:spcPts val="6755"/>
              </a:lnSpc>
              <a:buFont typeface="Arial"/>
              <a:buChar char="•"/>
            </a:pPr>
            <a:r>
              <a:rPr lang="en-US" sz="3816" b="1">
                <a:solidFill>
                  <a:srgbClr val="FFFFFF"/>
                </a:solidFill>
                <a:latin typeface="Lato Bold"/>
                <a:ea typeface="Lato Bold"/>
                <a:cs typeface="Lato Bold"/>
                <a:sym typeface="Lato Bold"/>
              </a:rPr>
              <a:t>Requires more compute, data, and cost.</a:t>
            </a:r>
          </a:p>
        </p:txBody>
      </p:sp>
      <p:sp>
        <p:nvSpPr>
          <p:cNvPr id="11" name="Freeform 11"/>
          <p:cNvSpPr/>
          <p:nvPr/>
        </p:nvSpPr>
        <p:spPr>
          <a:xfrm rot="-425068" flipH="1">
            <a:off x="14879832" y="6449702"/>
            <a:ext cx="3990346" cy="3559797"/>
          </a:xfrm>
          <a:custGeom>
            <a:avLst/>
            <a:gdLst/>
            <a:ahLst/>
            <a:cxnLst/>
            <a:rect l="l" t="t" r="r" b="b"/>
            <a:pathLst>
              <a:path w="3990346" h="3559797">
                <a:moveTo>
                  <a:pt x="3990345" y="0"/>
                </a:moveTo>
                <a:lnTo>
                  <a:pt x="0" y="0"/>
                </a:lnTo>
                <a:lnTo>
                  <a:pt x="0" y="3559796"/>
                </a:lnTo>
                <a:lnTo>
                  <a:pt x="3990345" y="3559796"/>
                </a:lnTo>
                <a:lnTo>
                  <a:pt x="399034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6836" y="82296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4" y="0"/>
                </a:lnTo>
                <a:lnTo>
                  <a:pt x="6928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09054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385229" y="809858"/>
            <a:ext cx="19411663" cy="261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7"/>
              </a:lnSpc>
            </a:pPr>
            <a:r>
              <a:rPr lang="en-US" sz="9033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Process of Instruction Fine-Tuning </a:t>
            </a:r>
          </a:p>
        </p:txBody>
      </p:sp>
      <p:sp>
        <p:nvSpPr>
          <p:cNvPr id="5" name="Freeform 5"/>
          <p:cNvSpPr/>
          <p:nvPr/>
        </p:nvSpPr>
        <p:spPr>
          <a:xfrm>
            <a:off x="11684973" y="5906778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5603704" y="6111397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5" y="0"/>
                </a:lnTo>
                <a:lnTo>
                  <a:pt x="8804595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43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55596" y="3553965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30"/>
                </a:lnTo>
                <a:lnTo>
                  <a:pt x="0" y="2113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4435800" y="3486799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30"/>
                </a:lnTo>
                <a:lnTo>
                  <a:pt x="0" y="2113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214537" y="3553965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30"/>
                </a:lnTo>
                <a:lnTo>
                  <a:pt x="0" y="2113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006713" y="3553965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30" y="0"/>
                </a:lnTo>
                <a:lnTo>
                  <a:pt x="2113330" y="2113330"/>
                </a:lnTo>
                <a:lnTo>
                  <a:pt x="0" y="2113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059342" y="4282567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40967" y="4217752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618283" y="4284918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406763" y="4284918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89626" y="5924349"/>
            <a:ext cx="3121512" cy="242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000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Model Learns: </a:t>
            </a:r>
          </a:p>
          <a:p>
            <a:pPr algn="ctr">
              <a:lnSpc>
                <a:spcPts val="4860"/>
              </a:lnSpc>
            </a:pPr>
            <a:r>
              <a:rPr lang="en-US" sz="3000">
                <a:solidFill>
                  <a:srgbClr val="FAF7F4"/>
                </a:solidFill>
                <a:latin typeface="Poppins Light"/>
                <a:ea typeface="Poppins Light"/>
                <a:cs typeface="Poppins Light"/>
                <a:sym typeface="Poppins Light"/>
              </a:rPr>
              <a:t>follow unseen instructions</a:t>
            </a:r>
          </a:p>
          <a:p>
            <a:pPr algn="ctr">
              <a:lnSpc>
                <a:spcPts val="4860"/>
              </a:lnSpc>
            </a:pPr>
            <a:r>
              <a:rPr lang="en-US" sz="3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0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10327866" y="4634443"/>
            <a:ext cx="1702780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7710446" y="5924349"/>
            <a:ext cx="3121512" cy="364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000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Train the Model:</a:t>
            </a:r>
            <a:r>
              <a:rPr lang="en-US" sz="3000">
                <a:solidFill>
                  <a:srgbClr val="000000"/>
                </a:solidFill>
                <a:latin typeface="Poppins Light"/>
                <a:ea typeface="Poppins Light"/>
                <a:cs typeface="Poppins Light"/>
                <a:sym typeface="Poppins Light"/>
              </a:rPr>
              <a:t>: </a:t>
            </a:r>
          </a:p>
          <a:p>
            <a:pPr algn="ctr">
              <a:lnSpc>
                <a:spcPts val="4860"/>
              </a:lnSpc>
            </a:pPr>
            <a:r>
              <a:rPr lang="en-US" sz="3000">
                <a:solidFill>
                  <a:srgbClr val="FAF7F4"/>
                </a:solidFill>
                <a:latin typeface="Poppins"/>
                <a:ea typeface="Poppins"/>
                <a:cs typeface="Poppins"/>
                <a:sym typeface="Poppins"/>
              </a:rPr>
              <a:t>model weights are updated (not frozen)</a:t>
            </a:r>
          </a:p>
          <a:p>
            <a:pPr algn="ctr">
              <a:lnSpc>
                <a:spcPts val="4860"/>
              </a:lnSpc>
            </a:pPr>
            <a:endParaRPr lang="en-US" sz="3000">
              <a:solidFill>
                <a:srgbClr val="FAF7F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931709" y="5924349"/>
            <a:ext cx="3340587" cy="425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000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Instruction–Response Pair: </a:t>
            </a:r>
          </a:p>
          <a:p>
            <a:pPr algn="ctr">
              <a:lnSpc>
                <a:spcPts val="4860"/>
              </a:lnSpc>
            </a:pPr>
            <a:r>
              <a:rPr lang="en-US" sz="3000">
                <a:solidFill>
                  <a:srgbClr val="FAF7F4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Convert into structured format</a:t>
            </a:r>
          </a:p>
          <a:p>
            <a:pPr algn="ctr">
              <a:lnSpc>
                <a:spcPts val="4860"/>
              </a:lnSpc>
            </a:pPr>
            <a:endParaRPr lang="en-US" sz="3000">
              <a:solidFill>
                <a:srgbClr val="FAF7F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9" name="AutoShape 19"/>
          <p:cNvSpPr/>
          <p:nvPr/>
        </p:nvSpPr>
        <p:spPr>
          <a:xfrm flipV="1">
            <a:off x="6511757" y="4634443"/>
            <a:ext cx="1702780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 flipV="1">
            <a:off x="2733020" y="4567276"/>
            <a:ext cx="1702780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0" y="5887873"/>
            <a:ext cx="3802613" cy="3640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000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 Data:</a:t>
            </a:r>
          </a:p>
          <a:p>
            <a:pPr algn="ctr">
              <a:lnSpc>
                <a:spcPts val="4860"/>
              </a:lnSpc>
            </a:pPr>
            <a:r>
              <a:rPr lang="en-US" sz="3000">
                <a:solidFill>
                  <a:srgbClr val="FAF7F4"/>
                </a:solidFill>
                <a:latin typeface="Poppins Light"/>
                <a:ea typeface="Poppins Light"/>
                <a:cs typeface="Poppins Light"/>
                <a:sym typeface="Poppins Light"/>
              </a:rPr>
              <a:t> Collect many </a:t>
            </a:r>
          </a:p>
          <a:p>
            <a:pPr algn="ctr">
              <a:lnSpc>
                <a:spcPts val="4860"/>
              </a:lnSpc>
            </a:pPr>
            <a:r>
              <a:rPr lang="en-US" sz="3000">
                <a:solidFill>
                  <a:srgbClr val="FAF7F4"/>
                </a:solidFill>
                <a:latin typeface="Poppins Light"/>
                <a:ea typeface="Poppins Light"/>
                <a:cs typeface="Poppins Light"/>
                <a:sym typeface="Poppins Light"/>
              </a:rPr>
              <a:t>(Instruction-Response) examples</a:t>
            </a:r>
          </a:p>
          <a:p>
            <a:pPr algn="ctr">
              <a:lnSpc>
                <a:spcPts val="4860"/>
              </a:lnSpc>
            </a:pPr>
            <a:endParaRPr lang="en-US" sz="3000">
              <a:solidFill>
                <a:srgbClr val="FAF7F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5953464" y="4282567"/>
            <a:ext cx="1305836" cy="1137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3"/>
              </a:lnSpc>
              <a:spcBef>
                <a:spcPct val="0"/>
              </a:spcBef>
            </a:pPr>
            <a:r>
              <a:rPr lang="en-US" sz="10686">
                <a:solidFill>
                  <a:srgbClr val="40B8F5"/>
                </a:solidFill>
                <a:latin typeface="Computer Says No"/>
                <a:ea typeface="Computer Says No"/>
                <a:cs typeface="Computer Says No"/>
                <a:sym typeface="Computer Says No"/>
              </a:rPr>
              <a:t>05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045626" y="5893544"/>
            <a:ext cx="3121512" cy="303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0"/>
              </a:lnSpc>
            </a:pPr>
            <a:r>
              <a:rPr lang="en-US" sz="3000" b="1">
                <a:solidFill>
                  <a:srgbClr val="FAF7F4"/>
                </a:solidFill>
                <a:latin typeface="Poppins Bold"/>
                <a:ea typeface="Poppins Bold"/>
                <a:cs typeface="Poppins Bold"/>
                <a:sym typeface="Poppins Bold"/>
              </a:rPr>
              <a:t>Deploy Assistant: </a:t>
            </a:r>
          </a:p>
          <a:p>
            <a:pPr algn="ctr">
              <a:lnSpc>
                <a:spcPts val="4860"/>
              </a:lnSpc>
            </a:pPr>
            <a:r>
              <a:rPr lang="en-US" sz="3000">
                <a:solidFill>
                  <a:srgbClr val="FAF7F4"/>
                </a:solidFill>
                <a:latin typeface="Poppins Light"/>
                <a:ea typeface="Poppins Light"/>
                <a:cs typeface="Poppins Light"/>
                <a:sym typeface="Poppins Light"/>
              </a:rPr>
              <a:t>Test on new instructions</a:t>
            </a:r>
          </a:p>
          <a:p>
            <a:pPr algn="ctr">
              <a:lnSpc>
                <a:spcPts val="4860"/>
              </a:lnSpc>
            </a:pPr>
            <a:endParaRPr lang="en-US" sz="3000">
              <a:solidFill>
                <a:srgbClr val="FAF7F4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" name="AutoShape 24"/>
          <p:cNvSpPr/>
          <p:nvPr/>
        </p:nvSpPr>
        <p:spPr>
          <a:xfrm flipV="1">
            <a:off x="14120043" y="4632092"/>
            <a:ext cx="1702780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5549717" y="3551614"/>
            <a:ext cx="2113329" cy="2113329"/>
          </a:xfrm>
          <a:custGeom>
            <a:avLst/>
            <a:gdLst/>
            <a:ahLst/>
            <a:cxnLst/>
            <a:rect l="l" t="t" r="r" b="b"/>
            <a:pathLst>
              <a:path w="2113329" h="2113329">
                <a:moveTo>
                  <a:pt x="0" y="0"/>
                </a:moveTo>
                <a:lnTo>
                  <a:pt x="2113329" y="0"/>
                </a:lnTo>
                <a:lnTo>
                  <a:pt x="2113329" y="2113330"/>
                </a:lnTo>
                <a:lnTo>
                  <a:pt x="0" y="21133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2452" y="7906417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7"/>
                </a:lnTo>
                <a:lnTo>
                  <a:pt x="0" y="4258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145941" y="758114"/>
            <a:ext cx="18859781" cy="261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207"/>
              </a:lnSpc>
            </a:pPr>
            <a:r>
              <a:rPr lang="en-US" sz="9033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Example Flow of Instruction Fine-Tuning </a:t>
            </a:r>
          </a:p>
        </p:txBody>
      </p:sp>
      <p:sp>
        <p:nvSpPr>
          <p:cNvPr id="4" name="Freeform 4"/>
          <p:cNvSpPr/>
          <p:nvPr/>
        </p:nvSpPr>
        <p:spPr>
          <a:xfrm>
            <a:off x="-6464640" y="683988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163854" y="6705303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858197" y="3914995"/>
            <a:ext cx="4829702" cy="5281975"/>
            <a:chOff x="0" y="0"/>
            <a:chExt cx="1272020" cy="139113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72020" cy="1391138"/>
            </a:xfrm>
            <a:custGeom>
              <a:avLst/>
              <a:gdLst/>
              <a:ahLst/>
              <a:cxnLst/>
              <a:rect l="l" t="t" r="r" b="b"/>
              <a:pathLst>
                <a:path w="1272020" h="1391138">
                  <a:moveTo>
                    <a:pt x="80149" y="0"/>
                  </a:moveTo>
                  <a:lnTo>
                    <a:pt x="1191871" y="0"/>
                  </a:lnTo>
                  <a:cubicBezTo>
                    <a:pt x="1213128" y="0"/>
                    <a:pt x="1233514" y="8444"/>
                    <a:pt x="1248545" y="23475"/>
                  </a:cubicBezTo>
                  <a:cubicBezTo>
                    <a:pt x="1263576" y="38506"/>
                    <a:pt x="1272020" y="58892"/>
                    <a:pt x="1272020" y="80149"/>
                  </a:cubicBezTo>
                  <a:lnTo>
                    <a:pt x="1272020" y="1310988"/>
                  </a:lnTo>
                  <a:cubicBezTo>
                    <a:pt x="1272020" y="1355254"/>
                    <a:pt x="1236136" y="1391138"/>
                    <a:pt x="1191871" y="1391138"/>
                  </a:cubicBezTo>
                  <a:lnTo>
                    <a:pt x="80149" y="1391138"/>
                  </a:lnTo>
                  <a:cubicBezTo>
                    <a:pt x="35884" y="1391138"/>
                    <a:pt x="0" y="1355254"/>
                    <a:pt x="0" y="1310988"/>
                  </a:cubicBezTo>
                  <a:lnTo>
                    <a:pt x="0" y="80149"/>
                  </a:lnTo>
                  <a:cubicBezTo>
                    <a:pt x="0" y="35884"/>
                    <a:pt x="35884" y="0"/>
                    <a:pt x="801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5E5E5">
                    <a:alpha val="7500"/>
                  </a:srgbClr>
                </a:gs>
                <a:gs pos="100000">
                  <a:srgbClr val="953DC3">
                    <a:alpha val="7500"/>
                  </a:srgbClr>
                </a:gs>
              </a:gsLst>
              <a:lin ang="2700000"/>
            </a:gradFill>
            <a:ln w="38100" cap="rnd">
              <a:solidFill>
                <a:srgbClr val="40B8F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9525"/>
              <a:ext cx="1272020" cy="1381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0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707074" y="3914995"/>
            <a:ext cx="4829702" cy="5281975"/>
            <a:chOff x="0" y="0"/>
            <a:chExt cx="1272020" cy="13911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72020" cy="1391138"/>
            </a:xfrm>
            <a:custGeom>
              <a:avLst/>
              <a:gdLst/>
              <a:ahLst/>
              <a:cxnLst/>
              <a:rect l="l" t="t" r="r" b="b"/>
              <a:pathLst>
                <a:path w="1272020" h="1391138">
                  <a:moveTo>
                    <a:pt x="80149" y="0"/>
                  </a:moveTo>
                  <a:lnTo>
                    <a:pt x="1191871" y="0"/>
                  </a:lnTo>
                  <a:cubicBezTo>
                    <a:pt x="1213128" y="0"/>
                    <a:pt x="1233514" y="8444"/>
                    <a:pt x="1248545" y="23475"/>
                  </a:cubicBezTo>
                  <a:cubicBezTo>
                    <a:pt x="1263576" y="38506"/>
                    <a:pt x="1272020" y="58892"/>
                    <a:pt x="1272020" y="80149"/>
                  </a:cubicBezTo>
                  <a:lnTo>
                    <a:pt x="1272020" y="1310988"/>
                  </a:lnTo>
                  <a:cubicBezTo>
                    <a:pt x="1272020" y="1355254"/>
                    <a:pt x="1236136" y="1391138"/>
                    <a:pt x="1191871" y="1391138"/>
                  </a:cubicBezTo>
                  <a:lnTo>
                    <a:pt x="80149" y="1391138"/>
                  </a:lnTo>
                  <a:cubicBezTo>
                    <a:pt x="35884" y="1391138"/>
                    <a:pt x="0" y="1355254"/>
                    <a:pt x="0" y="1310988"/>
                  </a:cubicBezTo>
                  <a:lnTo>
                    <a:pt x="0" y="80149"/>
                  </a:lnTo>
                  <a:cubicBezTo>
                    <a:pt x="0" y="35884"/>
                    <a:pt x="35884" y="0"/>
                    <a:pt x="801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5E5E5">
                    <a:alpha val="7500"/>
                  </a:srgbClr>
                </a:gs>
                <a:gs pos="100000">
                  <a:srgbClr val="953DC3">
                    <a:alpha val="7500"/>
                  </a:srgbClr>
                </a:gs>
              </a:gsLst>
              <a:lin ang="2700000"/>
            </a:gradFill>
            <a:ln w="38100" cap="rnd">
              <a:solidFill>
                <a:srgbClr val="40B8F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9525"/>
              <a:ext cx="1272020" cy="1381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558761" y="3914995"/>
            <a:ext cx="4829702" cy="5281975"/>
            <a:chOff x="0" y="0"/>
            <a:chExt cx="1272020" cy="13911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72020" cy="1391138"/>
            </a:xfrm>
            <a:custGeom>
              <a:avLst/>
              <a:gdLst/>
              <a:ahLst/>
              <a:cxnLst/>
              <a:rect l="l" t="t" r="r" b="b"/>
              <a:pathLst>
                <a:path w="1272020" h="1391138">
                  <a:moveTo>
                    <a:pt x="80149" y="0"/>
                  </a:moveTo>
                  <a:lnTo>
                    <a:pt x="1191871" y="0"/>
                  </a:lnTo>
                  <a:cubicBezTo>
                    <a:pt x="1213128" y="0"/>
                    <a:pt x="1233514" y="8444"/>
                    <a:pt x="1248545" y="23475"/>
                  </a:cubicBezTo>
                  <a:cubicBezTo>
                    <a:pt x="1263576" y="38506"/>
                    <a:pt x="1272020" y="58892"/>
                    <a:pt x="1272020" y="80149"/>
                  </a:cubicBezTo>
                  <a:lnTo>
                    <a:pt x="1272020" y="1310988"/>
                  </a:lnTo>
                  <a:cubicBezTo>
                    <a:pt x="1272020" y="1355254"/>
                    <a:pt x="1236136" y="1391138"/>
                    <a:pt x="1191871" y="1391138"/>
                  </a:cubicBezTo>
                  <a:lnTo>
                    <a:pt x="80149" y="1391138"/>
                  </a:lnTo>
                  <a:cubicBezTo>
                    <a:pt x="35884" y="1391138"/>
                    <a:pt x="0" y="1355254"/>
                    <a:pt x="0" y="1310988"/>
                  </a:cubicBezTo>
                  <a:lnTo>
                    <a:pt x="0" y="80149"/>
                  </a:lnTo>
                  <a:cubicBezTo>
                    <a:pt x="0" y="35884"/>
                    <a:pt x="35884" y="0"/>
                    <a:pt x="801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5E5E5">
                    <a:alpha val="7500"/>
                  </a:srgbClr>
                </a:gs>
                <a:gs pos="100000">
                  <a:srgbClr val="953DC3">
                    <a:alpha val="7500"/>
                  </a:srgbClr>
                </a:gs>
              </a:gsLst>
              <a:lin ang="2700000"/>
            </a:gradFill>
            <a:ln w="38100" cap="rnd">
              <a:solidFill>
                <a:srgbClr val="40B8F5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9525"/>
              <a:ext cx="1272020" cy="13816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2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 rot="4178243">
            <a:off x="2161955" y="4407241"/>
            <a:ext cx="1951661" cy="1916177"/>
          </a:xfrm>
          <a:custGeom>
            <a:avLst/>
            <a:gdLst/>
            <a:ahLst/>
            <a:cxnLst/>
            <a:rect l="l" t="t" r="r" b="b"/>
            <a:pathLst>
              <a:path w="1951661" h="1916177">
                <a:moveTo>
                  <a:pt x="0" y="0"/>
                </a:moveTo>
                <a:lnTo>
                  <a:pt x="1951662" y="0"/>
                </a:lnTo>
                <a:lnTo>
                  <a:pt x="1951662" y="1916176"/>
                </a:lnTo>
                <a:lnTo>
                  <a:pt x="0" y="1916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 rot="4178243">
            <a:off x="8146094" y="4407241"/>
            <a:ext cx="1951661" cy="1916177"/>
          </a:xfrm>
          <a:custGeom>
            <a:avLst/>
            <a:gdLst/>
            <a:ahLst/>
            <a:cxnLst/>
            <a:rect l="l" t="t" r="r" b="b"/>
            <a:pathLst>
              <a:path w="1951661" h="1916177">
                <a:moveTo>
                  <a:pt x="0" y="0"/>
                </a:moveTo>
                <a:lnTo>
                  <a:pt x="1951661" y="0"/>
                </a:lnTo>
                <a:lnTo>
                  <a:pt x="1951661" y="1916176"/>
                </a:lnTo>
                <a:lnTo>
                  <a:pt x="0" y="1916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 rot="4178243">
            <a:off x="13997781" y="4407241"/>
            <a:ext cx="1951661" cy="1916177"/>
          </a:xfrm>
          <a:custGeom>
            <a:avLst/>
            <a:gdLst/>
            <a:ahLst/>
            <a:cxnLst/>
            <a:rect l="l" t="t" r="r" b="b"/>
            <a:pathLst>
              <a:path w="1951661" h="1916177">
                <a:moveTo>
                  <a:pt x="0" y="0"/>
                </a:moveTo>
                <a:lnTo>
                  <a:pt x="1951661" y="0"/>
                </a:lnTo>
                <a:lnTo>
                  <a:pt x="1951661" y="1916176"/>
                </a:lnTo>
                <a:lnTo>
                  <a:pt x="0" y="19161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72174" y="7839456"/>
            <a:ext cx="4131225" cy="1099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sz="3199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"Fix the bug in this Python code"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77613" y="6782732"/>
            <a:ext cx="4859163" cy="2785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endParaRPr/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Text</a:t>
            </a:r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 ( snippet with error):</a:t>
            </a:r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print("Hello World</a:t>
            </a:r>
          </a:p>
          <a:p>
            <a:pPr algn="ctr">
              <a:lnSpc>
                <a:spcPts val="4480"/>
              </a:lnSpc>
            </a:pPr>
            <a:endParaRPr lang="en-US" sz="3200" b="1">
              <a:solidFill>
                <a:srgbClr val="FFFFFF"/>
              </a:solidFill>
              <a:latin typeface="TT Norms Bold"/>
              <a:ea typeface="TT Norms Bold"/>
              <a:cs typeface="TT Norms Bold"/>
              <a:sym typeface="TT Norm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907999" y="7849267"/>
            <a:ext cx="4131225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Corrected Code:</a:t>
            </a:r>
          </a:p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FFFFFF"/>
                </a:solidFill>
                <a:latin typeface="TT Norms Bold"/>
                <a:ea typeface="TT Norms Bold"/>
                <a:cs typeface="TT Norms Bold"/>
                <a:sym typeface="TT Norms Bold"/>
              </a:rPr>
              <a:t>print("Hello World")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597269" y="6755620"/>
            <a:ext cx="3081034" cy="616838"/>
            <a:chOff x="0" y="0"/>
            <a:chExt cx="719876" cy="14412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9876" cy="144123"/>
            </a:xfrm>
            <a:custGeom>
              <a:avLst/>
              <a:gdLst/>
              <a:ahLst/>
              <a:cxnLst/>
              <a:rect l="l" t="t" r="r" b="b"/>
              <a:pathLst>
                <a:path w="719876" h="144123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6380"/>
                  </a:lnTo>
                  <a:cubicBezTo>
                    <a:pt x="719876" y="109042"/>
                    <a:pt x="714846" y="121186"/>
                    <a:pt x="705893" y="130139"/>
                  </a:cubicBezTo>
                  <a:cubicBezTo>
                    <a:pt x="696939" y="139093"/>
                    <a:pt x="684796" y="144123"/>
                    <a:pt x="672134" y="144123"/>
                  </a:cubicBezTo>
                  <a:lnTo>
                    <a:pt x="47743" y="144123"/>
                  </a:lnTo>
                  <a:cubicBezTo>
                    <a:pt x="35080" y="144123"/>
                    <a:pt x="22937" y="139093"/>
                    <a:pt x="13983" y="130139"/>
                  </a:cubicBezTo>
                  <a:cubicBezTo>
                    <a:pt x="5030" y="121186"/>
                    <a:pt x="0" y="109042"/>
                    <a:pt x="0" y="96380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66675"/>
              <a:ext cx="719876" cy="2107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2999" spc="125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Instruction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03483" y="6747431"/>
            <a:ext cx="3081034" cy="616838"/>
            <a:chOff x="0" y="0"/>
            <a:chExt cx="719876" cy="14412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719876" cy="144123"/>
            </a:xfrm>
            <a:custGeom>
              <a:avLst/>
              <a:gdLst/>
              <a:ahLst/>
              <a:cxnLst/>
              <a:rect l="l" t="t" r="r" b="b"/>
              <a:pathLst>
                <a:path w="719876" h="144123">
                  <a:moveTo>
                    <a:pt x="47743" y="0"/>
                  </a:moveTo>
                  <a:lnTo>
                    <a:pt x="672134" y="0"/>
                  </a:lnTo>
                  <a:cubicBezTo>
                    <a:pt x="698501" y="0"/>
                    <a:pt x="719876" y="21375"/>
                    <a:pt x="719876" y="47743"/>
                  </a:cubicBezTo>
                  <a:lnTo>
                    <a:pt x="719876" y="96380"/>
                  </a:lnTo>
                  <a:cubicBezTo>
                    <a:pt x="719876" y="109042"/>
                    <a:pt x="714846" y="121186"/>
                    <a:pt x="705893" y="130139"/>
                  </a:cubicBezTo>
                  <a:cubicBezTo>
                    <a:pt x="696939" y="139093"/>
                    <a:pt x="684796" y="144123"/>
                    <a:pt x="672134" y="144123"/>
                  </a:cubicBezTo>
                  <a:lnTo>
                    <a:pt x="47743" y="144123"/>
                  </a:lnTo>
                  <a:cubicBezTo>
                    <a:pt x="35080" y="144123"/>
                    <a:pt x="22937" y="139093"/>
                    <a:pt x="13983" y="130139"/>
                  </a:cubicBezTo>
                  <a:cubicBezTo>
                    <a:pt x="5030" y="121186"/>
                    <a:pt x="0" y="109042"/>
                    <a:pt x="0" y="96380"/>
                  </a:cubicBezTo>
                  <a:lnTo>
                    <a:pt x="0" y="47743"/>
                  </a:lnTo>
                  <a:cubicBezTo>
                    <a:pt x="0" y="35080"/>
                    <a:pt x="5030" y="22937"/>
                    <a:pt x="13983" y="13983"/>
                  </a:cubicBezTo>
                  <a:cubicBezTo>
                    <a:pt x="22937" y="5030"/>
                    <a:pt x="35080" y="0"/>
                    <a:pt x="4774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66675"/>
              <a:ext cx="719876" cy="2107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2999" spc="125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Input Code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3192622" y="6858556"/>
            <a:ext cx="3606129" cy="616838"/>
            <a:chOff x="0" y="0"/>
            <a:chExt cx="842563" cy="14412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42563" cy="144123"/>
            </a:xfrm>
            <a:custGeom>
              <a:avLst/>
              <a:gdLst/>
              <a:ahLst/>
              <a:cxnLst/>
              <a:rect l="l" t="t" r="r" b="b"/>
              <a:pathLst>
                <a:path w="842563" h="144123">
                  <a:moveTo>
                    <a:pt x="40791" y="0"/>
                  </a:moveTo>
                  <a:lnTo>
                    <a:pt x="801773" y="0"/>
                  </a:lnTo>
                  <a:cubicBezTo>
                    <a:pt x="824301" y="0"/>
                    <a:pt x="842563" y="18263"/>
                    <a:pt x="842563" y="40791"/>
                  </a:cubicBezTo>
                  <a:lnTo>
                    <a:pt x="842563" y="103332"/>
                  </a:lnTo>
                  <a:cubicBezTo>
                    <a:pt x="842563" y="125860"/>
                    <a:pt x="824301" y="144123"/>
                    <a:pt x="801773" y="144123"/>
                  </a:cubicBezTo>
                  <a:lnTo>
                    <a:pt x="40791" y="144123"/>
                  </a:lnTo>
                  <a:cubicBezTo>
                    <a:pt x="18263" y="144123"/>
                    <a:pt x="0" y="125860"/>
                    <a:pt x="0" y="103332"/>
                  </a:cubicBezTo>
                  <a:lnTo>
                    <a:pt x="0" y="40791"/>
                  </a:lnTo>
                  <a:cubicBezTo>
                    <a:pt x="0" y="18263"/>
                    <a:pt x="18263" y="0"/>
                    <a:pt x="407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0A5FF">
                    <a:alpha val="100000"/>
                  </a:srgbClr>
                </a:gs>
                <a:gs pos="100000">
                  <a:srgbClr val="041E4E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842563" cy="21079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899"/>
                </a:lnSpc>
                <a:spcBef>
                  <a:spcPct val="0"/>
                </a:spcBef>
              </a:pPr>
              <a:r>
                <a:rPr lang="en-US" sz="2999" spc="125">
                  <a:solidFill>
                    <a:srgbClr val="FFFFFF"/>
                  </a:solidFill>
                  <a:latin typeface="Telegraf"/>
                  <a:ea typeface="Telegraf"/>
                  <a:cs typeface="Telegraf"/>
                  <a:sym typeface="Telegraf"/>
                </a:rPr>
                <a:t>Fine-Tuned Model 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619680" y="4786153"/>
            <a:ext cx="1174225" cy="11437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25"/>
              </a:lnSpc>
              <a:spcBef>
                <a:spcPct val="0"/>
              </a:spcBef>
            </a:pPr>
            <a:r>
              <a:rPr lang="en-US" sz="673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📝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535567" y="4786153"/>
            <a:ext cx="1172716" cy="114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13"/>
              </a:lnSpc>
              <a:spcBef>
                <a:spcPct val="0"/>
              </a:spcBef>
            </a:pPr>
            <a:r>
              <a:rPr lang="en-US" sz="6723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💻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410950" y="4814702"/>
            <a:ext cx="1169475" cy="1130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87"/>
              </a:lnSpc>
              <a:spcBef>
                <a:spcPct val="0"/>
              </a:spcBef>
            </a:pPr>
            <a:r>
              <a:rPr lang="en-US" sz="670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🤖</a:t>
            </a:r>
          </a:p>
        </p:txBody>
      </p:sp>
      <p:sp>
        <p:nvSpPr>
          <p:cNvPr id="33" name="AutoShape 33"/>
          <p:cNvSpPr/>
          <p:nvPr/>
        </p:nvSpPr>
        <p:spPr>
          <a:xfrm>
            <a:off x="5687899" y="6555983"/>
            <a:ext cx="1019175" cy="0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 flipV="1">
            <a:off x="11577065" y="6555983"/>
            <a:ext cx="981696" cy="57573"/>
          </a:xfrm>
          <a:prstGeom prst="line">
            <a:avLst/>
          </a:prstGeom>
          <a:ln w="47625" cap="rnd">
            <a:solidFill>
              <a:srgbClr val="5CE5F8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26997" y="8966413"/>
            <a:ext cx="17771791" cy="5925733"/>
          </a:xfrm>
          <a:custGeom>
            <a:avLst/>
            <a:gdLst/>
            <a:ahLst/>
            <a:cxnLst/>
            <a:rect l="l" t="t" r="r" b="b"/>
            <a:pathLst>
              <a:path w="17771791" h="5925733">
                <a:moveTo>
                  <a:pt x="0" y="0"/>
                </a:moveTo>
                <a:lnTo>
                  <a:pt x="17771791" y="0"/>
                </a:lnTo>
                <a:lnTo>
                  <a:pt x="17771791" y="5925733"/>
                </a:lnTo>
                <a:lnTo>
                  <a:pt x="0" y="5925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-5261237" y="190830"/>
            <a:ext cx="16001907" cy="1053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2"/>
              </a:lnSpc>
            </a:pPr>
            <a:r>
              <a:rPr lang="en-US" sz="7170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Examples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514866" y="1068048"/>
            <a:ext cx="4366933" cy="932720"/>
            <a:chOff x="0" y="0"/>
            <a:chExt cx="1150139" cy="24565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40B8F5"/>
            </a:solidFill>
            <a:ln w="38100" cap="rnd">
              <a:solidFill>
                <a:srgbClr val="0067C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Instruction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120601" y="1068048"/>
            <a:ext cx="4366933" cy="932720"/>
            <a:chOff x="0" y="0"/>
            <a:chExt cx="1150139" cy="2456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40B8F5"/>
            </a:solidFill>
            <a:ln w="38100" cap="rnd">
              <a:solidFill>
                <a:srgbClr val="0067C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Input / Task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726337" y="1068048"/>
            <a:ext cx="4366933" cy="932720"/>
            <a:chOff x="0" y="0"/>
            <a:chExt cx="1150139" cy="24565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50139" cy="245655"/>
            </a:xfrm>
            <a:custGeom>
              <a:avLst/>
              <a:gdLst/>
              <a:ahLst/>
              <a:cxnLst/>
              <a:rect l="l" t="t" r="r" b="b"/>
              <a:pathLst>
                <a:path w="1150139" h="245655">
                  <a:moveTo>
                    <a:pt x="106371" y="0"/>
                  </a:moveTo>
                  <a:lnTo>
                    <a:pt x="1043768" y="0"/>
                  </a:lnTo>
                  <a:cubicBezTo>
                    <a:pt x="1071979" y="0"/>
                    <a:pt x="1099035" y="11207"/>
                    <a:pt x="1118983" y="31155"/>
                  </a:cubicBezTo>
                  <a:cubicBezTo>
                    <a:pt x="1138932" y="51104"/>
                    <a:pt x="1150139" y="78160"/>
                    <a:pt x="1150139" y="106371"/>
                  </a:cubicBezTo>
                  <a:lnTo>
                    <a:pt x="1150139" y="139284"/>
                  </a:lnTo>
                  <a:cubicBezTo>
                    <a:pt x="1150139" y="198031"/>
                    <a:pt x="1102515" y="245655"/>
                    <a:pt x="1043768" y="245655"/>
                  </a:cubicBezTo>
                  <a:lnTo>
                    <a:pt x="106371" y="245655"/>
                  </a:lnTo>
                  <a:cubicBezTo>
                    <a:pt x="78160" y="245655"/>
                    <a:pt x="51104" y="234448"/>
                    <a:pt x="31155" y="214499"/>
                  </a:cubicBezTo>
                  <a:cubicBezTo>
                    <a:pt x="11207" y="194551"/>
                    <a:pt x="0" y="167495"/>
                    <a:pt x="0" y="139284"/>
                  </a:cubicBezTo>
                  <a:lnTo>
                    <a:pt x="0" y="106371"/>
                  </a:lnTo>
                  <a:cubicBezTo>
                    <a:pt x="0" y="78160"/>
                    <a:pt x="11207" y="51104"/>
                    <a:pt x="31155" y="31155"/>
                  </a:cubicBezTo>
                  <a:cubicBezTo>
                    <a:pt x="51104" y="11207"/>
                    <a:pt x="78160" y="0"/>
                    <a:pt x="106371" y="0"/>
                  </a:cubicBezTo>
                  <a:close/>
                </a:path>
              </a:pathLst>
            </a:custGeom>
            <a:solidFill>
              <a:srgbClr val="40B8F5"/>
            </a:solidFill>
            <a:ln w="38100" cap="rnd">
              <a:solidFill>
                <a:srgbClr val="0067C7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150139" cy="2932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Lato Bold"/>
                  <a:ea typeface="Lato Bold"/>
                  <a:cs typeface="Lato Bold"/>
                  <a:sym typeface="Lato Bold"/>
                </a:rPr>
                <a:t>Output</a:t>
              </a:r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786803" y="2000768"/>
          <a:ext cx="16472497" cy="8791576"/>
        </p:xfrm>
        <a:graphic>
          <a:graphicData uri="http://schemas.openxmlformats.org/drawingml/2006/table">
            <a:tbl>
              <a:tblPr/>
              <a:tblGrid>
                <a:gridCol w="27605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4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10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26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7175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Math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Solve step by step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What is (45 × 12) ÷ 9 ?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496569" lvl="1" indent="-248284" algn="ctr">
                        <a:lnSpc>
                          <a:spcPts val="321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45 × 12 = 540</a:t>
                      </a:r>
                      <a:endParaRPr lang="en-US" sz="1100"/>
                    </a:p>
                    <a:p>
                      <a:pPr marL="496569" lvl="1" indent="-248284" algn="ctr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540 ÷ 9 = 60</a:t>
                      </a:r>
                    </a:p>
                    <a:p>
                      <a:pPr marL="496569" lvl="1" indent="-248284" algn="ctr">
                        <a:lnSpc>
                          <a:spcPts val="3219"/>
                        </a:lnSpc>
                        <a:buFont typeface="Arial"/>
                        <a:buChar char="•"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Final Answer: 60</a:t>
                      </a:r>
                    </a:p>
                    <a:p>
                      <a:pPr algn="ctr">
                        <a:lnSpc>
                          <a:spcPts val="3219"/>
                        </a:lnSpc>
                      </a:pPr>
                      <a:endParaRPr lang="en-US" sz="2299" b="1">
                        <a:solidFill>
                          <a:srgbClr val="E5E1DA"/>
                        </a:solidFill>
                        <a:latin typeface="Lato Bold"/>
                        <a:ea typeface="Lato Bold"/>
                        <a:cs typeface="Lato Bold"/>
                        <a:sym typeface="Lato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632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Translate</a:t>
                      </a:r>
                    </a:p>
                    <a:p>
                      <a:pPr algn="ctr">
                        <a:lnSpc>
                          <a:spcPts val="3499"/>
                        </a:lnSpc>
                      </a:pPr>
                      <a:endParaRPr lang="en-US" sz="2499" b="1">
                        <a:solidFill>
                          <a:srgbClr val="000000"/>
                        </a:solidFill>
                        <a:latin typeface="Lato Bold"/>
                        <a:ea typeface="Lato Bold"/>
                        <a:cs typeface="Lato Bold"/>
                        <a:sym typeface="Lato Bold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     Translate into French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“Good morning, how are you?”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“Bonjour, comment ça va ?”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388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Explaination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8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           Explain Concept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“Explain Newton’s 2nd law for a 10-year-old.”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“When you push something harder, it moves faster. Bigger things need more push.”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9615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Summarization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B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Sumamrize this text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“The Amazon rainforest covers 5.5 million sq km and produces 20% of the world’s oxygen.”</a:t>
                      </a:r>
                      <a:endParaRPr lang="en-US" sz="1100"/>
                    </a:p>
                    <a:p>
                      <a:pPr algn="ctr">
                        <a:lnSpc>
                          <a:spcPts val="3219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19"/>
                        </a:lnSpc>
                        <a:defRPr/>
                      </a:pPr>
                      <a:r>
                        <a:rPr lang="en-US" sz="2299" b="1">
                          <a:solidFill>
                            <a:srgbClr val="E5E1DA"/>
                          </a:solidFill>
                          <a:latin typeface="Lato Bold"/>
                          <a:ea typeface="Lato Bold"/>
                          <a:cs typeface="Lato Bold"/>
                          <a:sym typeface="Lato Bold"/>
                        </a:rPr>
                        <a:t>"The Amazon rainforest is vital for oxygen and biodiversity.”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67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TextBox 14"/>
          <p:cNvSpPr txBox="1"/>
          <p:nvPr/>
        </p:nvSpPr>
        <p:spPr>
          <a:xfrm>
            <a:off x="6529046" y="1105790"/>
            <a:ext cx="774830" cy="761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19"/>
              </a:lnSpc>
              <a:spcBef>
                <a:spcPct val="0"/>
              </a:spcBef>
            </a:pPr>
            <a:r>
              <a:rPr lang="en-US" sz="4442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📝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349467" y="1142877"/>
            <a:ext cx="768072" cy="754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6"/>
              </a:lnSpc>
              <a:spcBef>
                <a:spcPct val="0"/>
              </a:spcBef>
            </a:pPr>
            <a:r>
              <a:rPr lang="en-US" sz="4404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💻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85787" y="1158925"/>
            <a:ext cx="759007" cy="738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2"/>
              </a:lnSpc>
              <a:spcBef>
                <a:spcPct val="0"/>
              </a:spcBef>
            </a:pPr>
            <a:r>
              <a:rPr lang="en-US" sz="4351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🤖</a:t>
            </a:r>
          </a:p>
        </p:txBody>
      </p:sp>
      <p:sp>
        <p:nvSpPr>
          <p:cNvPr id="17" name="Freeform 17"/>
          <p:cNvSpPr/>
          <p:nvPr/>
        </p:nvSpPr>
        <p:spPr>
          <a:xfrm>
            <a:off x="15124996" y="-4249567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Freeform 18"/>
          <p:cNvSpPr/>
          <p:nvPr/>
        </p:nvSpPr>
        <p:spPr>
          <a:xfrm>
            <a:off x="14909803" y="6574978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9" name="Freeform 19"/>
          <p:cNvSpPr/>
          <p:nvPr/>
        </p:nvSpPr>
        <p:spPr>
          <a:xfrm>
            <a:off x="-8255916" y="161819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295270" y="-957817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9"/>
                </a:lnTo>
                <a:lnTo>
                  <a:pt x="0" y="9379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5366836" y="8229600"/>
            <a:ext cx="6928434" cy="4114800"/>
          </a:xfrm>
          <a:custGeom>
            <a:avLst/>
            <a:gdLst/>
            <a:ahLst/>
            <a:cxnLst/>
            <a:rect l="l" t="t" r="r" b="b"/>
            <a:pathLst>
              <a:path w="6928434" h="4114800">
                <a:moveTo>
                  <a:pt x="0" y="0"/>
                </a:moveTo>
                <a:lnTo>
                  <a:pt x="6928434" y="0"/>
                </a:lnTo>
                <a:lnTo>
                  <a:pt x="69284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97355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8" y="0"/>
                </a:lnTo>
                <a:lnTo>
                  <a:pt x="18701318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4070084" y="2993014"/>
            <a:ext cx="3300861" cy="2352814"/>
          </a:xfrm>
          <a:custGeom>
            <a:avLst/>
            <a:gdLst/>
            <a:ahLst/>
            <a:cxnLst/>
            <a:rect l="l" t="t" r="r" b="b"/>
            <a:pathLst>
              <a:path w="3300861" h="2352814">
                <a:moveTo>
                  <a:pt x="0" y="0"/>
                </a:moveTo>
                <a:lnTo>
                  <a:pt x="3300861" y="0"/>
                </a:lnTo>
                <a:lnTo>
                  <a:pt x="3300861" y="2352814"/>
                </a:lnTo>
                <a:lnTo>
                  <a:pt x="0" y="23528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9394" r="-788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2879917" y="6423375"/>
            <a:ext cx="4094105" cy="2302934"/>
          </a:xfrm>
          <a:custGeom>
            <a:avLst/>
            <a:gdLst/>
            <a:ahLst/>
            <a:cxnLst/>
            <a:rect l="l" t="t" r="r" b="b"/>
            <a:pathLst>
              <a:path w="4094105" h="2302934">
                <a:moveTo>
                  <a:pt x="0" y="0"/>
                </a:moveTo>
                <a:lnTo>
                  <a:pt x="4094105" y="0"/>
                </a:lnTo>
                <a:lnTo>
                  <a:pt x="4094105" y="2302935"/>
                </a:lnTo>
                <a:lnTo>
                  <a:pt x="0" y="23029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968752" y="6423375"/>
            <a:ext cx="3887981" cy="2302934"/>
          </a:xfrm>
          <a:custGeom>
            <a:avLst/>
            <a:gdLst/>
            <a:ahLst/>
            <a:cxnLst/>
            <a:rect l="l" t="t" r="r" b="b"/>
            <a:pathLst>
              <a:path w="3887981" h="2302934">
                <a:moveTo>
                  <a:pt x="0" y="0"/>
                </a:moveTo>
                <a:lnTo>
                  <a:pt x="3887981" y="0"/>
                </a:lnTo>
                <a:lnTo>
                  <a:pt x="3887981" y="2302935"/>
                </a:lnTo>
                <a:lnTo>
                  <a:pt x="0" y="2302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2796" b="-253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3522656" y="6442765"/>
            <a:ext cx="3688362" cy="2264155"/>
          </a:xfrm>
          <a:custGeom>
            <a:avLst/>
            <a:gdLst/>
            <a:ahLst/>
            <a:cxnLst/>
            <a:rect l="l" t="t" r="r" b="b"/>
            <a:pathLst>
              <a:path w="3688362" h="2264155">
                <a:moveTo>
                  <a:pt x="0" y="0"/>
                </a:moveTo>
                <a:lnTo>
                  <a:pt x="3688361" y="0"/>
                </a:lnTo>
                <a:lnTo>
                  <a:pt x="3688361" y="2264155"/>
                </a:lnTo>
                <a:lnTo>
                  <a:pt x="0" y="226415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35731" b="-2717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8255549" y="2897538"/>
            <a:ext cx="2543766" cy="2543766"/>
          </a:xfrm>
          <a:custGeom>
            <a:avLst/>
            <a:gdLst/>
            <a:ahLst/>
            <a:cxnLst/>
            <a:rect l="l" t="t" r="r" b="b"/>
            <a:pathLst>
              <a:path w="2543766" h="2543766">
                <a:moveTo>
                  <a:pt x="0" y="0"/>
                </a:moveTo>
                <a:lnTo>
                  <a:pt x="2543765" y="0"/>
                </a:lnTo>
                <a:lnTo>
                  <a:pt x="2543765" y="2543765"/>
                </a:lnTo>
                <a:lnTo>
                  <a:pt x="0" y="25437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2156169" y="2790686"/>
            <a:ext cx="4817854" cy="2650617"/>
          </a:xfrm>
          <a:custGeom>
            <a:avLst/>
            <a:gdLst/>
            <a:ahLst/>
            <a:cxnLst/>
            <a:rect l="l" t="t" r="r" b="b"/>
            <a:pathLst>
              <a:path w="4817854" h="2650617">
                <a:moveTo>
                  <a:pt x="0" y="0"/>
                </a:moveTo>
                <a:lnTo>
                  <a:pt x="4817853" y="0"/>
                </a:lnTo>
                <a:lnTo>
                  <a:pt x="4817853" y="2650617"/>
                </a:lnTo>
                <a:lnTo>
                  <a:pt x="0" y="26506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t="-1063" b="-106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09218" y="370282"/>
            <a:ext cx="2826752" cy="3361695"/>
          </a:xfrm>
          <a:custGeom>
            <a:avLst/>
            <a:gdLst/>
            <a:ahLst/>
            <a:cxnLst/>
            <a:rect l="l" t="t" r="r" b="b"/>
            <a:pathLst>
              <a:path w="2826752" h="3361695">
                <a:moveTo>
                  <a:pt x="0" y="0"/>
                </a:moveTo>
                <a:lnTo>
                  <a:pt x="2826752" y="0"/>
                </a:lnTo>
                <a:lnTo>
                  <a:pt x="2826752" y="3361695"/>
                </a:lnTo>
                <a:lnTo>
                  <a:pt x="0" y="33616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850987" y="809858"/>
            <a:ext cx="19411663" cy="1288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81"/>
              </a:lnSpc>
            </a:pPr>
            <a:r>
              <a:rPr lang="en-US" sz="8833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Real World Applications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591040" y="217788"/>
            <a:ext cx="15344048" cy="1459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35"/>
              </a:lnSpc>
              <a:spcBef>
                <a:spcPct val="0"/>
              </a:spcBef>
            </a:pPr>
            <a:r>
              <a:rPr lang="en-US" sz="8525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Comparison </a:t>
            </a:r>
          </a:p>
        </p:txBody>
      </p:sp>
      <p:sp>
        <p:nvSpPr>
          <p:cNvPr id="3" name="Freeform 3"/>
          <p:cNvSpPr/>
          <p:nvPr/>
        </p:nvSpPr>
        <p:spPr>
          <a:xfrm rot="733758">
            <a:off x="-1692431" y="-219556"/>
            <a:ext cx="3899198" cy="4117596"/>
          </a:xfrm>
          <a:custGeom>
            <a:avLst/>
            <a:gdLst/>
            <a:ahLst/>
            <a:cxnLst/>
            <a:rect l="l" t="t" r="r" b="b"/>
            <a:pathLst>
              <a:path w="3899198" h="4117596">
                <a:moveTo>
                  <a:pt x="0" y="0"/>
                </a:moveTo>
                <a:lnTo>
                  <a:pt x="3899198" y="0"/>
                </a:lnTo>
                <a:lnTo>
                  <a:pt x="3899198" y="4117596"/>
                </a:lnTo>
                <a:lnTo>
                  <a:pt x="0" y="41175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1151101" y="-1662058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315754" y="512154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528860" y="2016435"/>
          <a:ext cx="13024539" cy="7168942"/>
        </p:xfrm>
        <a:graphic>
          <a:graphicData uri="http://schemas.openxmlformats.org/drawingml/2006/table">
            <a:tbl>
              <a:tblPr/>
              <a:tblGrid>
                <a:gridCol w="4341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15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15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96477"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endParaRPr lang="en-US" sz="1100"/>
                    </a:p>
                    <a:p>
                      <a:pPr algn="ctr">
                        <a:lnSpc>
                          <a:spcPts val="2963"/>
                        </a:lnSpc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6215"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What Changes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Soft Prompts Only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Model weights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0360"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Data Needed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Small(~100s)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Large(~1000s+)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08630"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Cheap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Expensive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8630"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Scope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Narrow,Task Specific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Broad,General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08630"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Suitable for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Small Tasks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63"/>
                        </a:lnSpc>
                        <a:defRPr/>
                      </a:pPr>
                      <a:r>
                        <a:rPr lang="en-US" sz="2116">
                          <a:solidFill>
                            <a:srgbClr val="FFFFFF"/>
                          </a:solidFill>
                          <a:latin typeface="Cy Grotesk Key"/>
                          <a:ea typeface="Cy Grotesk Key"/>
                          <a:cs typeface="Cy Grotesk Key"/>
                          <a:sym typeface="Cy Grotesk Key"/>
                        </a:rPr>
                        <a:t>Wide range of tasks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3888856" y="2475160"/>
            <a:ext cx="5314198" cy="473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  <a:spcBef>
                <a:spcPct val="0"/>
              </a:spcBef>
            </a:pPr>
            <a:r>
              <a:rPr lang="en-US" sz="2750">
                <a:solidFill>
                  <a:srgbClr val="44A5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FEATURE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254442" y="2484685"/>
            <a:ext cx="5314198" cy="473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  <a:spcBef>
                <a:spcPct val="0"/>
              </a:spcBef>
            </a:pPr>
            <a:r>
              <a:rPr lang="en-US" sz="2750">
                <a:solidFill>
                  <a:srgbClr val="44A5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PROMPT TUNING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25555" y="2398960"/>
            <a:ext cx="3411085" cy="958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1"/>
              </a:lnSpc>
              <a:spcBef>
                <a:spcPct val="0"/>
              </a:spcBef>
            </a:pPr>
            <a:r>
              <a:rPr lang="en-US" sz="2750">
                <a:solidFill>
                  <a:srgbClr val="44A5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INSTRUCTION FINE-TUNING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7061" y="462396"/>
            <a:ext cx="6539089" cy="901148"/>
            <a:chOff x="0" y="0"/>
            <a:chExt cx="1722229" cy="237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2229" cy="237339"/>
            </a:xfrm>
            <a:custGeom>
              <a:avLst/>
              <a:gdLst/>
              <a:ahLst/>
              <a:cxnLst/>
              <a:rect l="l" t="t" r="r" b="b"/>
              <a:pathLst>
                <a:path w="1722229" h="237339">
                  <a:moveTo>
                    <a:pt x="33150" y="0"/>
                  </a:moveTo>
                  <a:lnTo>
                    <a:pt x="1689079" y="0"/>
                  </a:lnTo>
                  <a:cubicBezTo>
                    <a:pt x="1707387" y="0"/>
                    <a:pt x="1722229" y="14842"/>
                    <a:pt x="1722229" y="33150"/>
                  </a:cubicBezTo>
                  <a:lnTo>
                    <a:pt x="1722229" y="204189"/>
                  </a:lnTo>
                  <a:cubicBezTo>
                    <a:pt x="1722229" y="222497"/>
                    <a:pt x="1707387" y="237339"/>
                    <a:pt x="1689079" y="237339"/>
                  </a:cubicBezTo>
                  <a:lnTo>
                    <a:pt x="33150" y="237339"/>
                  </a:lnTo>
                  <a:cubicBezTo>
                    <a:pt x="14842" y="237339"/>
                    <a:pt x="0" y="222497"/>
                    <a:pt x="0" y="204189"/>
                  </a:cubicBezTo>
                  <a:lnTo>
                    <a:pt x="0" y="33150"/>
                  </a:lnTo>
                  <a:cubicBezTo>
                    <a:pt x="0" y="14842"/>
                    <a:pt x="14842" y="0"/>
                    <a:pt x="33150" y="0"/>
                  </a:cubicBezTo>
                  <a:close/>
                </a:path>
              </a:pathLst>
            </a:custGeom>
            <a:solidFill>
              <a:srgbClr val="3168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722229" cy="189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37061" y="5143500"/>
            <a:ext cx="6539089" cy="901148"/>
            <a:chOff x="0" y="0"/>
            <a:chExt cx="1722229" cy="2373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2229" cy="237339"/>
            </a:xfrm>
            <a:custGeom>
              <a:avLst/>
              <a:gdLst/>
              <a:ahLst/>
              <a:cxnLst/>
              <a:rect l="l" t="t" r="r" b="b"/>
              <a:pathLst>
                <a:path w="1722229" h="237339">
                  <a:moveTo>
                    <a:pt x="33150" y="0"/>
                  </a:moveTo>
                  <a:lnTo>
                    <a:pt x="1689079" y="0"/>
                  </a:lnTo>
                  <a:cubicBezTo>
                    <a:pt x="1707387" y="0"/>
                    <a:pt x="1722229" y="14842"/>
                    <a:pt x="1722229" y="33150"/>
                  </a:cubicBezTo>
                  <a:lnTo>
                    <a:pt x="1722229" y="204189"/>
                  </a:lnTo>
                  <a:cubicBezTo>
                    <a:pt x="1722229" y="222497"/>
                    <a:pt x="1707387" y="237339"/>
                    <a:pt x="1689079" y="237339"/>
                  </a:cubicBezTo>
                  <a:lnTo>
                    <a:pt x="33150" y="237339"/>
                  </a:lnTo>
                  <a:cubicBezTo>
                    <a:pt x="14842" y="237339"/>
                    <a:pt x="0" y="222497"/>
                    <a:pt x="0" y="204189"/>
                  </a:cubicBezTo>
                  <a:lnTo>
                    <a:pt x="0" y="33150"/>
                  </a:lnTo>
                  <a:cubicBezTo>
                    <a:pt x="0" y="14842"/>
                    <a:pt x="14842" y="0"/>
                    <a:pt x="33150" y="0"/>
                  </a:cubicBezTo>
                  <a:close/>
                </a:path>
              </a:pathLst>
            </a:custGeom>
            <a:solidFill>
              <a:srgbClr val="3168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722229" cy="189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032283" y="595942"/>
            <a:ext cx="604290" cy="604290"/>
          </a:xfrm>
          <a:custGeom>
            <a:avLst/>
            <a:gdLst/>
            <a:ahLst/>
            <a:cxnLst/>
            <a:rect l="l" t="t" r="r" b="b"/>
            <a:pathLst>
              <a:path w="604290" h="604290">
                <a:moveTo>
                  <a:pt x="0" y="0"/>
                </a:moveTo>
                <a:lnTo>
                  <a:pt x="604289" y="0"/>
                </a:lnTo>
                <a:lnTo>
                  <a:pt x="604289" y="604290"/>
                </a:lnTo>
                <a:lnTo>
                  <a:pt x="0" y="604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35129" y="2387603"/>
            <a:ext cx="5147897" cy="5756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1"/>
              </a:lnSpc>
              <a:spcBef>
                <a:spcPct val="0"/>
              </a:spcBef>
            </a:pPr>
            <a:r>
              <a:rPr lang="en-US" sz="817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Pros and Cons Prompt Tuning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58179" y="1881267"/>
            <a:ext cx="7115373" cy="2252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997" lvl="1" indent="-346498" algn="l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Highly Efficient &amp; Fast</a:t>
            </a:r>
          </a:p>
          <a:p>
            <a:pPr marL="692997" lvl="1" indent="-346498" algn="l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Lightweight and easy deployment</a:t>
            </a:r>
          </a:p>
          <a:p>
            <a:pPr marL="692997" lvl="1" indent="-346498" algn="l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Low cost operation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469031" y="6549473"/>
            <a:ext cx="6098735" cy="2731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0049" lvl="1" indent="-335024" algn="l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Limited task flexibility</a:t>
            </a:r>
          </a:p>
          <a:p>
            <a:pPr marL="670049" lvl="1" indent="-335024" algn="l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Underperforms on complex tasks</a:t>
            </a:r>
          </a:p>
          <a:p>
            <a:pPr marL="670049" lvl="1" indent="-335024" algn="l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Narrow generalization capability</a:t>
            </a:r>
          </a:p>
        </p:txBody>
      </p:sp>
      <p:sp>
        <p:nvSpPr>
          <p:cNvPr id="12" name="Freeform 12"/>
          <p:cNvSpPr/>
          <p:nvPr/>
        </p:nvSpPr>
        <p:spPr>
          <a:xfrm>
            <a:off x="13364683" y="4947180"/>
            <a:ext cx="5985658" cy="5339820"/>
          </a:xfrm>
          <a:custGeom>
            <a:avLst/>
            <a:gdLst/>
            <a:ahLst/>
            <a:cxnLst/>
            <a:rect l="l" t="t" r="r" b="b"/>
            <a:pathLst>
              <a:path w="5985658" h="5339820">
                <a:moveTo>
                  <a:pt x="0" y="0"/>
                </a:moveTo>
                <a:lnTo>
                  <a:pt x="5985658" y="0"/>
                </a:lnTo>
                <a:lnTo>
                  <a:pt x="5985658" y="5339820"/>
                </a:lnTo>
                <a:lnTo>
                  <a:pt x="0" y="5339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-4170590" y="-3443921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2857003" y="-1862294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8051991" y="5240998"/>
            <a:ext cx="692912" cy="706152"/>
          </a:xfrm>
          <a:custGeom>
            <a:avLst/>
            <a:gdLst/>
            <a:ahLst/>
            <a:cxnLst/>
            <a:rect l="l" t="t" r="r" b="b"/>
            <a:pathLst>
              <a:path w="692912" h="706152">
                <a:moveTo>
                  <a:pt x="0" y="0"/>
                </a:moveTo>
                <a:lnTo>
                  <a:pt x="692912" y="0"/>
                </a:lnTo>
                <a:lnTo>
                  <a:pt x="692912" y="706152"/>
                </a:lnTo>
                <a:lnTo>
                  <a:pt x="0" y="7061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388922" y="578084"/>
            <a:ext cx="2217465" cy="60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2"/>
              </a:lnSpc>
              <a:spcBef>
                <a:spcPct val="0"/>
              </a:spcBef>
            </a:pPr>
            <a:r>
              <a:rPr lang="en-US" sz="3523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Pros: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10843" y="5303523"/>
            <a:ext cx="1929664" cy="52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2"/>
              </a:lnSpc>
              <a:spcBef>
                <a:spcPct val="0"/>
              </a:spcBef>
            </a:pPr>
            <a:r>
              <a:rPr lang="en-US" sz="3066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Cons: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737061" y="462396"/>
            <a:ext cx="6539089" cy="901148"/>
            <a:chOff x="0" y="0"/>
            <a:chExt cx="1722229" cy="2373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2229" cy="237339"/>
            </a:xfrm>
            <a:custGeom>
              <a:avLst/>
              <a:gdLst/>
              <a:ahLst/>
              <a:cxnLst/>
              <a:rect l="l" t="t" r="r" b="b"/>
              <a:pathLst>
                <a:path w="1722229" h="237339">
                  <a:moveTo>
                    <a:pt x="33150" y="0"/>
                  </a:moveTo>
                  <a:lnTo>
                    <a:pt x="1689079" y="0"/>
                  </a:lnTo>
                  <a:cubicBezTo>
                    <a:pt x="1707387" y="0"/>
                    <a:pt x="1722229" y="14842"/>
                    <a:pt x="1722229" y="33150"/>
                  </a:cubicBezTo>
                  <a:lnTo>
                    <a:pt x="1722229" y="204189"/>
                  </a:lnTo>
                  <a:cubicBezTo>
                    <a:pt x="1722229" y="222497"/>
                    <a:pt x="1707387" y="237339"/>
                    <a:pt x="1689079" y="237339"/>
                  </a:cubicBezTo>
                  <a:lnTo>
                    <a:pt x="33150" y="237339"/>
                  </a:lnTo>
                  <a:cubicBezTo>
                    <a:pt x="14842" y="237339"/>
                    <a:pt x="0" y="222497"/>
                    <a:pt x="0" y="204189"/>
                  </a:cubicBezTo>
                  <a:lnTo>
                    <a:pt x="0" y="33150"/>
                  </a:lnTo>
                  <a:cubicBezTo>
                    <a:pt x="0" y="14842"/>
                    <a:pt x="14842" y="0"/>
                    <a:pt x="33150" y="0"/>
                  </a:cubicBezTo>
                  <a:close/>
                </a:path>
              </a:pathLst>
            </a:custGeom>
            <a:solidFill>
              <a:srgbClr val="3168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722229" cy="189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737061" y="5248275"/>
            <a:ext cx="6539089" cy="901148"/>
            <a:chOff x="0" y="0"/>
            <a:chExt cx="1722229" cy="23733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22229" cy="237339"/>
            </a:xfrm>
            <a:custGeom>
              <a:avLst/>
              <a:gdLst/>
              <a:ahLst/>
              <a:cxnLst/>
              <a:rect l="l" t="t" r="r" b="b"/>
              <a:pathLst>
                <a:path w="1722229" h="237339">
                  <a:moveTo>
                    <a:pt x="33150" y="0"/>
                  </a:moveTo>
                  <a:lnTo>
                    <a:pt x="1689079" y="0"/>
                  </a:lnTo>
                  <a:cubicBezTo>
                    <a:pt x="1707387" y="0"/>
                    <a:pt x="1722229" y="14842"/>
                    <a:pt x="1722229" y="33150"/>
                  </a:cubicBezTo>
                  <a:lnTo>
                    <a:pt x="1722229" y="204189"/>
                  </a:lnTo>
                  <a:cubicBezTo>
                    <a:pt x="1722229" y="222497"/>
                    <a:pt x="1707387" y="237339"/>
                    <a:pt x="1689079" y="237339"/>
                  </a:cubicBezTo>
                  <a:lnTo>
                    <a:pt x="33150" y="237339"/>
                  </a:lnTo>
                  <a:cubicBezTo>
                    <a:pt x="14842" y="237339"/>
                    <a:pt x="0" y="222497"/>
                    <a:pt x="0" y="204189"/>
                  </a:cubicBezTo>
                  <a:lnTo>
                    <a:pt x="0" y="33150"/>
                  </a:lnTo>
                  <a:cubicBezTo>
                    <a:pt x="0" y="14842"/>
                    <a:pt x="14842" y="0"/>
                    <a:pt x="33150" y="0"/>
                  </a:cubicBezTo>
                  <a:close/>
                </a:path>
              </a:pathLst>
            </a:custGeom>
            <a:solidFill>
              <a:srgbClr val="3168CD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722229" cy="189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032283" y="595942"/>
            <a:ext cx="604290" cy="604290"/>
          </a:xfrm>
          <a:custGeom>
            <a:avLst/>
            <a:gdLst/>
            <a:ahLst/>
            <a:cxnLst/>
            <a:rect l="l" t="t" r="r" b="b"/>
            <a:pathLst>
              <a:path w="604290" h="604290">
                <a:moveTo>
                  <a:pt x="0" y="0"/>
                </a:moveTo>
                <a:lnTo>
                  <a:pt x="604289" y="0"/>
                </a:lnTo>
                <a:lnTo>
                  <a:pt x="604289" y="604290"/>
                </a:lnTo>
                <a:lnTo>
                  <a:pt x="0" y="6042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435129" y="1183472"/>
            <a:ext cx="5893711" cy="721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51"/>
              </a:lnSpc>
              <a:spcBef>
                <a:spcPct val="0"/>
              </a:spcBef>
            </a:pPr>
            <a:r>
              <a:rPr lang="en-US" sz="8179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Pros and Cons Instruction Fine-Tuning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8922" y="578084"/>
            <a:ext cx="2217465" cy="60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2"/>
              </a:lnSpc>
              <a:spcBef>
                <a:spcPct val="0"/>
              </a:spcBef>
            </a:pPr>
            <a:r>
              <a:rPr lang="en-US" sz="3523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Pros: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0843" y="5408298"/>
            <a:ext cx="1929664" cy="523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92"/>
              </a:lnSpc>
              <a:spcBef>
                <a:spcPct val="0"/>
              </a:spcBef>
            </a:pPr>
            <a:r>
              <a:rPr lang="en-US" sz="3066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Cons: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01029" y="1728867"/>
            <a:ext cx="7115373" cy="28143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997" lvl="1" indent="-346498" algn="l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High-quality consistent responses</a:t>
            </a:r>
          </a:p>
          <a:p>
            <a:pPr marL="692997" lvl="1" indent="-346498" algn="l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Generalizes across tasks</a:t>
            </a:r>
          </a:p>
          <a:p>
            <a:pPr marL="692997" lvl="1" indent="-346498" algn="l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Reliable output generation</a:t>
            </a:r>
          </a:p>
          <a:p>
            <a:pPr marL="692997" lvl="1" indent="-346498" algn="l">
              <a:lnSpc>
                <a:spcPts val="4493"/>
              </a:lnSpc>
              <a:buFont typeface="Arial"/>
              <a:buChar char="•"/>
            </a:pPr>
            <a:r>
              <a:rPr lang="en-US" sz="320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Handles complex instructions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69031" y="6587573"/>
            <a:ext cx="6098735" cy="2731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0049" lvl="1" indent="-335024" algn="l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Resource-intensive training</a:t>
            </a:r>
          </a:p>
          <a:p>
            <a:pPr marL="670049" lvl="1" indent="-335024" algn="l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Time-consuming process</a:t>
            </a:r>
          </a:p>
          <a:p>
            <a:pPr marL="670049" lvl="1" indent="-335024" algn="l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Requires large datasets</a:t>
            </a:r>
          </a:p>
          <a:p>
            <a:pPr marL="670049" lvl="1" indent="-335024" algn="l">
              <a:lnSpc>
                <a:spcPts val="4344"/>
              </a:lnSpc>
              <a:buFont typeface="Arial"/>
              <a:buChar char="•"/>
            </a:pPr>
            <a:r>
              <a:rPr lang="en-US" sz="310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Slower iteration cycles</a:t>
            </a:r>
          </a:p>
          <a:p>
            <a:pPr algn="l">
              <a:lnSpc>
                <a:spcPts val="4344"/>
              </a:lnSpc>
            </a:pPr>
            <a:endParaRPr lang="en-US" sz="310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Freeform 14"/>
          <p:cNvSpPr/>
          <p:nvPr/>
        </p:nvSpPr>
        <p:spPr>
          <a:xfrm>
            <a:off x="13364683" y="4947180"/>
            <a:ext cx="5985658" cy="5339820"/>
          </a:xfrm>
          <a:custGeom>
            <a:avLst/>
            <a:gdLst/>
            <a:ahLst/>
            <a:cxnLst/>
            <a:rect l="l" t="t" r="r" b="b"/>
            <a:pathLst>
              <a:path w="5985658" h="5339820">
                <a:moveTo>
                  <a:pt x="0" y="0"/>
                </a:moveTo>
                <a:lnTo>
                  <a:pt x="5985658" y="0"/>
                </a:lnTo>
                <a:lnTo>
                  <a:pt x="5985658" y="5339820"/>
                </a:lnTo>
                <a:lnTo>
                  <a:pt x="0" y="53398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-3967168" y="-3939901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12857003" y="-1757519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43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7943661" y="5345773"/>
            <a:ext cx="692912" cy="706152"/>
          </a:xfrm>
          <a:custGeom>
            <a:avLst/>
            <a:gdLst/>
            <a:ahLst/>
            <a:cxnLst/>
            <a:rect l="l" t="t" r="r" b="b"/>
            <a:pathLst>
              <a:path w="692912" h="706152">
                <a:moveTo>
                  <a:pt x="0" y="0"/>
                </a:moveTo>
                <a:lnTo>
                  <a:pt x="692911" y="0"/>
                </a:lnTo>
                <a:lnTo>
                  <a:pt x="692911" y="706152"/>
                </a:lnTo>
                <a:lnTo>
                  <a:pt x="0" y="7061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00565" y="217788"/>
            <a:ext cx="15344048" cy="14598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935"/>
              </a:lnSpc>
              <a:spcBef>
                <a:spcPct val="0"/>
              </a:spcBef>
            </a:pPr>
            <a:r>
              <a:rPr lang="en-US" sz="8525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Real-World Applications</a:t>
            </a:r>
          </a:p>
        </p:txBody>
      </p:sp>
      <p:sp>
        <p:nvSpPr>
          <p:cNvPr id="3" name="Freeform 3"/>
          <p:cNvSpPr/>
          <p:nvPr/>
        </p:nvSpPr>
        <p:spPr>
          <a:xfrm>
            <a:off x="11382561" y="-1404880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845767" y="4160660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3171961" y="3332122"/>
            <a:ext cx="1352543" cy="1408018"/>
          </a:xfrm>
          <a:custGeom>
            <a:avLst/>
            <a:gdLst/>
            <a:ahLst/>
            <a:cxnLst/>
            <a:rect l="l" t="t" r="r" b="b"/>
            <a:pathLst>
              <a:path w="1352543" h="1408018">
                <a:moveTo>
                  <a:pt x="0" y="0"/>
                </a:moveTo>
                <a:lnTo>
                  <a:pt x="1352542" y="0"/>
                </a:lnTo>
                <a:lnTo>
                  <a:pt x="1352542" y="1408019"/>
                </a:lnTo>
                <a:lnTo>
                  <a:pt x="0" y="140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794880" y="2247779"/>
            <a:ext cx="989978" cy="989978"/>
          </a:xfrm>
          <a:custGeom>
            <a:avLst/>
            <a:gdLst/>
            <a:ahLst/>
            <a:cxnLst/>
            <a:rect l="l" t="t" r="r" b="b"/>
            <a:pathLst>
              <a:path w="989978" h="989978">
                <a:moveTo>
                  <a:pt x="0" y="0"/>
                </a:moveTo>
                <a:lnTo>
                  <a:pt x="989978" y="0"/>
                </a:lnTo>
                <a:lnTo>
                  <a:pt x="989978" y="989979"/>
                </a:lnTo>
                <a:lnTo>
                  <a:pt x="0" y="9899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467478" y="3438058"/>
            <a:ext cx="1196147" cy="1196147"/>
          </a:xfrm>
          <a:custGeom>
            <a:avLst/>
            <a:gdLst/>
            <a:ahLst/>
            <a:cxnLst/>
            <a:rect l="l" t="t" r="r" b="b"/>
            <a:pathLst>
              <a:path w="1196147" h="1196147">
                <a:moveTo>
                  <a:pt x="0" y="0"/>
                </a:moveTo>
                <a:lnTo>
                  <a:pt x="1196147" y="0"/>
                </a:lnTo>
                <a:lnTo>
                  <a:pt x="1196147" y="1196147"/>
                </a:lnTo>
                <a:lnTo>
                  <a:pt x="0" y="1196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489453" y="2913933"/>
            <a:ext cx="9741392" cy="2868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5379" lvl="1" indent="-287690" algn="l">
              <a:lnSpc>
                <a:spcPts val="4610"/>
              </a:lnSpc>
              <a:buFont typeface="Arial"/>
              <a:buChar char="•"/>
            </a:pPr>
            <a:r>
              <a:rPr lang="en-US" sz="2665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Specialized Chatbots:</a:t>
            </a:r>
            <a:r>
              <a:rPr lang="en-US" sz="266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Medical Q&amp;A, enterprise customer support.</a:t>
            </a:r>
          </a:p>
          <a:p>
            <a:pPr marL="575379" lvl="1" indent="-287690" algn="l">
              <a:lnSpc>
                <a:spcPts val="4610"/>
              </a:lnSpc>
              <a:buFont typeface="Arial"/>
              <a:buChar char="•"/>
            </a:pPr>
            <a:r>
              <a:rPr lang="en-US" sz="2665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Controlled Content Generation:</a:t>
            </a:r>
            <a:r>
              <a:rPr lang="en-US" sz="266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Ad copy, social media in brand voice.</a:t>
            </a:r>
          </a:p>
          <a:p>
            <a:pPr marL="575379" lvl="1" indent="-287690" algn="l">
              <a:lnSpc>
                <a:spcPts val="4610"/>
              </a:lnSpc>
              <a:buFont typeface="Arial"/>
              <a:buChar char="•"/>
            </a:pPr>
            <a:r>
              <a:rPr lang="en-US" sz="2665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Rapid Prototyping</a:t>
            </a:r>
            <a:r>
              <a:rPr lang="en-US" sz="266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 for new product features.</a:t>
            </a:r>
          </a:p>
        </p:txBody>
      </p:sp>
      <p:sp>
        <p:nvSpPr>
          <p:cNvPr id="9" name="Freeform 9"/>
          <p:cNvSpPr/>
          <p:nvPr/>
        </p:nvSpPr>
        <p:spPr>
          <a:xfrm>
            <a:off x="15515906" y="6742401"/>
            <a:ext cx="2857414" cy="3398160"/>
          </a:xfrm>
          <a:custGeom>
            <a:avLst/>
            <a:gdLst/>
            <a:ahLst/>
            <a:cxnLst/>
            <a:rect l="l" t="t" r="r" b="b"/>
            <a:pathLst>
              <a:path w="2857414" h="3398160">
                <a:moveTo>
                  <a:pt x="0" y="0"/>
                </a:moveTo>
                <a:lnTo>
                  <a:pt x="2857414" y="0"/>
                </a:lnTo>
                <a:lnTo>
                  <a:pt x="2857414" y="3398160"/>
                </a:lnTo>
                <a:lnTo>
                  <a:pt x="0" y="339816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2770080" y="2203696"/>
            <a:ext cx="5314198" cy="53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>
                <a:solidFill>
                  <a:srgbClr val="44A5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PROMPT TUNING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70080" y="6439527"/>
            <a:ext cx="6291472" cy="539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11"/>
              </a:lnSpc>
              <a:spcBef>
                <a:spcPct val="0"/>
              </a:spcBef>
            </a:pPr>
            <a:r>
              <a:rPr lang="en-US" sz="3150">
                <a:solidFill>
                  <a:srgbClr val="44A5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INSTRUCTION FINE-TUNING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58969" y="7092900"/>
            <a:ext cx="9741392" cy="3449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5379" lvl="1" indent="-287690" algn="l">
              <a:lnSpc>
                <a:spcPts val="4610"/>
              </a:lnSpc>
              <a:buFont typeface="Arial"/>
              <a:buChar char="•"/>
            </a:pPr>
            <a:r>
              <a:rPr lang="en-US" sz="2665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General AI Assistants: </a:t>
            </a:r>
            <a:r>
              <a:rPr lang="en-US" sz="266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ChatGPT, Claude, etc.</a:t>
            </a:r>
          </a:p>
          <a:p>
            <a:pPr marL="575379" lvl="1" indent="-287690" algn="l">
              <a:lnSpc>
                <a:spcPts val="4610"/>
              </a:lnSpc>
              <a:buFont typeface="Arial"/>
              <a:buChar char="•"/>
            </a:pPr>
            <a:r>
              <a:rPr lang="en-US" sz="2665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Code Generation Models: </a:t>
            </a:r>
            <a:r>
              <a:rPr lang="en-US" sz="266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GitHub Copilot, CodeLLama.</a:t>
            </a:r>
          </a:p>
          <a:p>
            <a:pPr marL="575379" lvl="1" indent="-287690" algn="l">
              <a:lnSpc>
                <a:spcPts val="4610"/>
              </a:lnSpc>
              <a:buFont typeface="Arial"/>
              <a:buChar char="•"/>
            </a:pPr>
            <a:r>
              <a:rPr lang="en-US" sz="2665" b="1">
                <a:solidFill>
                  <a:srgbClr val="FFFFFF"/>
                </a:solidFill>
                <a:latin typeface="Cy Grotesk Key Bold"/>
                <a:ea typeface="Cy Grotesk Key Bold"/>
                <a:cs typeface="Cy Grotesk Key Bold"/>
                <a:sym typeface="Cy Grotesk Key Bold"/>
              </a:rPr>
              <a:t>Creative &amp; Complex Tasks: </a:t>
            </a:r>
            <a:r>
              <a:rPr lang="en-US" sz="2665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Story writing, complex reasoning.</a:t>
            </a:r>
          </a:p>
          <a:p>
            <a:pPr marL="575379" lvl="1" indent="-287690" algn="l">
              <a:lnSpc>
                <a:spcPts val="4610"/>
              </a:lnSpc>
              <a:buFont typeface="Arial"/>
              <a:buChar char="•"/>
            </a:pPr>
            <a:endParaRPr lang="en-US" sz="2665">
              <a:solidFill>
                <a:srgbClr val="FFFFFF"/>
              </a:solidFill>
              <a:latin typeface="Cy Grotesk Key"/>
              <a:ea typeface="Cy Grotesk Key"/>
              <a:cs typeface="Cy Grotesk Key"/>
              <a:sym typeface="Cy Grotesk Ke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8104" y="3631277"/>
            <a:ext cx="17771791" cy="5925733"/>
          </a:xfrm>
          <a:custGeom>
            <a:avLst/>
            <a:gdLst/>
            <a:ahLst/>
            <a:cxnLst/>
            <a:rect l="l" t="t" r="r" b="b"/>
            <a:pathLst>
              <a:path w="17771791" h="5925733">
                <a:moveTo>
                  <a:pt x="0" y="0"/>
                </a:moveTo>
                <a:lnTo>
                  <a:pt x="17771792" y="0"/>
                </a:lnTo>
                <a:lnTo>
                  <a:pt x="17771792" y="5925733"/>
                </a:lnTo>
                <a:lnTo>
                  <a:pt x="0" y="5925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655571" y="-4402297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3305362" y="-1058517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4615177" y="-398172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flipH="1">
            <a:off x="-2312313" y="-77131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0" y="7690055"/>
            <a:ext cx="18701319" cy="4258146"/>
          </a:xfrm>
          <a:custGeom>
            <a:avLst/>
            <a:gdLst/>
            <a:ahLst/>
            <a:cxnLst/>
            <a:rect l="l" t="t" r="r" b="b"/>
            <a:pathLst>
              <a:path w="18701319" h="4258146">
                <a:moveTo>
                  <a:pt x="0" y="0"/>
                </a:moveTo>
                <a:lnTo>
                  <a:pt x="18701319" y="0"/>
                </a:lnTo>
                <a:lnTo>
                  <a:pt x="18701319" y="4258146"/>
                </a:lnTo>
                <a:lnTo>
                  <a:pt x="0" y="42581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3172828" y="3295786"/>
            <a:ext cx="12135629" cy="3797576"/>
            <a:chOff x="0" y="0"/>
            <a:chExt cx="3196215" cy="100018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196215" cy="1000185"/>
            </a:xfrm>
            <a:custGeom>
              <a:avLst/>
              <a:gdLst/>
              <a:ahLst/>
              <a:cxnLst/>
              <a:rect l="l" t="t" r="r" b="b"/>
              <a:pathLst>
                <a:path w="3196215" h="1000185">
                  <a:moveTo>
                    <a:pt x="32535" y="0"/>
                  </a:moveTo>
                  <a:lnTo>
                    <a:pt x="3163680" y="0"/>
                  </a:lnTo>
                  <a:cubicBezTo>
                    <a:pt x="3181649" y="0"/>
                    <a:pt x="3196215" y="14567"/>
                    <a:pt x="3196215" y="32535"/>
                  </a:cubicBezTo>
                  <a:lnTo>
                    <a:pt x="3196215" y="967649"/>
                  </a:lnTo>
                  <a:cubicBezTo>
                    <a:pt x="3196215" y="976278"/>
                    <a:pt x="3192787" y="984554"/>
                    <a:pt x="3186686" y="990655"/>
                  </a:cubicBezTo>
                  <a:cubicBezTo>
                    <a:pt x="3180584" y="996757"/>
                    <a:pt x="3172309" y="1000185"/>
                    <a:pt x="3163680" y="1000185"/>
                  </a:cubicBezTo>
                  <a:lnTo>
                    <a:pt x="32535" y="1000185"/>
                  </a:lnTo>
                  <a:cubicBezTo>
                    <a:pt x="14567" y="1000185"/>
                    <a:pt x="0" y="985618"/>
                    <a:pt x="0" y="967649"/>
                  </a:cubicBezTo>
                  <a:lnTo>
                    <a:pt x="0" y="32535"/>
                  </a:lnTo>
                  <a:cubicBezTo>
                    <a:pt x="0" y="23906"/>
                    <a:pt x="3428" y="15631"/>
                    <a:pt x="9529" y="9529"/>
                  </a:cubicBezTo>
                  <a:cubicBezTo>
                    <a:pt x="15631" y="3428"/>
                    <a:pt x="23906" y="0"/>
                    <a:pt x="3253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625"/>
              <a:ext cx="3196215" cy="9525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11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-366906" y="4402297"/>
            <a:ext cx="4554340" cy="5154713"/>
          </a:xfrm>
          <a:custGeom>
            <a:avLst/>
            <a:gdLst/>
            <a:ahLst/>
            <a:cxnLst/>
            <a:rect l="l" t="t" r="r" b="b"/>
            <a:pathLst>
              <a:path w="4554340" h="5154713">
                <a:moveTo>
                  <a:pt x="0" y="0"/>
                </a:moveTo>
                <a:lnTo>
                  <a:pt x="4554340" y="0"/>
                </a:lnTo>
                <a:lnTo>
                  <a:pt x="4554340" y="5154713"/>
                </a:lnTo>
                <a:lnTo>
                  <a:pt x="0" y="51547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7502503" y="6745016"/>
            <a:ext cx="3282994" cy="2963651"/>
          </a:xfrm>
          <a:custGeom>
            <a:avLst/>
            <a:gdLst/>
            <a:ahLst/>
            <a:cxnLst/>
            <a:rect l="l" t="t" r="r" b="b"/>
            <a:pathLst>
              <a:path w="3282994" h="2963651">
                <a:moveTo>
                  <a:pt x="0" y="0"/>
                </a:moveTo>
                <a:lnTo>
                  <a:pt x="3282994" y="0"/>
                </a:lnTo>
                <a:lnTo>
                  <a:pt x="3282994" y="2963652"/>
                </a:lnTo>
                <a:lnTo>
                  <a:pt x="0" y="296365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5097497" y="1092584"/>
            <a:ext cx="7937339" cy="16377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75"/>
              </a:lnSpc>
              <a:spcBef>
                <a:spcPct val="0"/>
              </a:spcBef>
            </a:pPr>
            <a:r>
              <a:rPr lang="en-US" sz="9625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Conclusion: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57595" y="4163141"/>
            <a:ext cx="10386129" cy="1903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38"/>
              </a:lnSpc>
              <a:spcBef>
                <a:spcPct val="0"/>
              </a:spcBef>
            </a:pPr>
            <a:r>
              <a:rPr lang="en-US" sz="2741">
                <a:solidFill>
                  <a:srgbClr val="FFFFFF"/>
                </a:solidFill>
                <a:latin typeface="Cy Grotesk Key"/>
                <a:ea typeface="Cy Grotesk Key"/>
                <a:cs typeface="Cy Grotesk Key"/>
                <a:sym typeface="Cy Grotesk Key"/>
              </a:rPr>
              <a:t>Prompt tuning and instruction fine-tuning enhance large language models (LLMs) by enabling task-specific adaptation and reliable instruction-following, making AI more accurate, flexible, and aligned with human intent.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4616748" y="4231733"/>
            <a:ext cx="4441120" cy="5026567"/>
          </a:xfrm>
          <a:custGeom>
            <a:avLst/>
            <a:gdLst/>
            <a:ahLst/>
            <a:cxnLst/>
            <a:rect l="l" t="t" r="r" b="b"/>
            <a:pathLst>
              <a:path w="4441120" h="5026567">
                <a:moveTo>
                  <a:pt x="0" y="0"/>
                </a:moveTo>
                <a:lnTo>
                  <a:pt x="4441120" y="0"/>
                </a:lnTo>
                <a:lnTo>
                  <a:pt x="4441120" y="5026567"/>
                </a:lnTo>
                <a:lnTo>
                  <a:pt x="0" y="502656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55571" y="-4402297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305362" y="-1058517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615177" y="-398172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-2312313" y="-77131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58104" y="3631277"/>
            <a:ext cx="17771791" cy="5925733"/>
          </a:xfrm>
          <a:custGeom>
            <a:avLst/>
            <a:gdLst/>
            <a:ahLst/>
            <a:cxnLst/>
            <a:rect l="l" t="t" r="r" b="b"/>
            <a:pathLst>
              <a:path w="17771791" h="5925733">
                <a:moveTo>
                  <a:pt x="0" y="0"/>
                </a:moveTo>
                <a:lnTo>
                  <a:pt x="17771792" y="0"/>
                </a:lnTo>
                <a:lnTo>
                  <a:pt x="17771792" y="5925733"/>
                </a:lnTo>
                <a:lnTo>
                  <a:pt x="0" y="5925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105581" y="1509810"/>
            <a:ext cx="8076837" cy="4998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529"/>
              </a:lnSpc>
            </a:pPr>
            <a:r>
              <a:rPr lang="en-US" sz="17916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Thank You!</a:t>
            </a:r>
          </a:p>
        </p:txBody>
      </p:sp>
      <p:sp>
        <p:nvSpPr>
          <p:cNvPr id="8" name="Freeform 8"/>
          <p:cNvSpPr/>
          <p:nvPr/>
        </p:nvSpPr>
        <p:spPr>
          <a:xfrm rot="595271">
            <a:off x="-70109" y="3632696"/>
            <a:ext cx="6158533" cy="6503479"/>
          </a:xfrm>
          <a:custGeom>
            <a:avLst/>
            <a:gdLst/>
            <a:ahLst/>
            <a:cxnLst/>
            <a:rect l="l" t="t" r="r" b="b"/>
            <a:pathLst>
              <a:path w="6158533" h="6503479">
                <a:moveTo>
                  <a:pt x="0" y="0"/>
                </a:moveTo>
                <a:lnTo>
                  <a:pt x="6158534" y="0"/>
                </a:lnTo>
                <a:lnTo>
                  <a:pt x="6158534" y="6503479"/>
                </a:lnTo>
                <a:lnTo>
                  <a:pt x="0" y="6503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422762" flipH="1">
            <a:off x="11965371" y="3486011"/>
            <a:ext cx="6405919" cy="6764721"/>
          </a:xfrm>
          <a:custGeom>
            <a:avLst/>
            <a:gdLst/>
            <a:ahLst/>
            <a:cxnLst/>
            <a:rect l="l" t="t" r="r" b="b"/>
            <a:pathLst>
              <a:path w="6405919" h="6764721">
                <a:moveTo>
                  <a:pt x="6405919" y="0"/>
                </a:moveTo>
                <a:lnTo>
                  <a:pt x="0" y="0"/>
                </a:lnTo>
                <a:lnTo>
                  <a:pt x="0" y="6764721"/>
                </a:lnTo>
                <a:lnTo>
                  <a:pt x="6405919" y="6764721"/>
                </a:lnTo>
                <a:lnTo>
                  <a:pt x="640591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655571" y="-4402297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3305362" y="-1058517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0" y="0"/>
                </a:moveTo>
                <a:lnTo>
                  <a:pt x="7139284" y="0"/>
                </a:lnTo>
                <a:lnTo>
                  <a:pt x="7139284" y="9379588"/>
                </a:lnTo>
                <a:lnTo>
                  <a:pt x="0" y="93795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615177" y="-3981722"/>
            <a:ext cx="8804594" cy="8804594"/>
          </a:xfrm>
          <a:custGeom>
            <a:avLst/>
            <a:gdLst/>
            <a:ahLst/>
            <a:cxnLst/>
            <a:rect l="l" t="t" r="r" b="b"/>
            <a:pathLst>
              <a:path w="8804594" h="8804594">
                <a:moveTo>
                  <a:pt x="0" y="0"/>
                </a:moveTo>
                <a:lnTo>
                  <a:pt x="8804594" y="0"/>
                </a:lnTo>
                <a:lnTo>
                  <a:pt x="8804594" y="8804594"/>
                </a:lnTo>
                <a:lnTo>
                  <a:pt x="0" y="88045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flipH="1">
            <a:off x="-2312313" y="-771314"/>
            <a:ext cx="7139284" cy="9379588"/>
          </a:xfrm>
          <a:custGeom>
            <a:avLst/>
            <a:gdLst/>
            <a:ahLst/>
            <a:cxnLst/>
            <a:rect l="l" t="t" r="r" b="b"/>
            <a:pathLst>
              <a:path w="7139284" h="9379588">
                <a:moveTo>
                  <a:pt x="7139284" y="0"/>
                </a:moveTo>
                <a:lnTo>
                  <a:pt x="0" y="0"/>
                </a:lnTo>
                <a:lnTo>
                  <a:pt x="0" y="9379589"/>
                </a:lnTo>
                <a:lnTo>
                  <a:pt x="7139284" y="9379589"/>
                </a:lnTo>
                <a:lnTo>
                  <a:pt x="713928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258104" y="3631277"/>
            <a:ext cx="17771791" cy="5925733"/>
          </a:xfrm>
          <a:custGeom>
            <a:avLst/>
            <a:gdLst/>
            <a:ahLst/>
            <a:cxnLst/>
            <a:rect l="l" t="t" r="r" b="b"/>
            <a:pathLst>
              <a:path w="17771791" h="5925733">
                <a:moveTo>
                  <a:pt x="0" y="0"/>
                </a:moveTo>
                <a:lnTo>
                  <a:pt x="17771792" y="0"/>
                </a:lnTo>
                <a:lnTo>
                  <a:pt x="17771792" y="5925733"/>
                </a:lnTo>
                <a:lnTo>
                  <a:pt x="0" y="592573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595271">
            <a:off x="-70109" y="3632696"/>
            <a:ext cx="6158533" cy="6503479"/>
          </a:xfrm>
          <a:custGeom>
            <a:avLst/>
            <a:gdLst/>
            <a:ahLst/>
            <a:cxnLst/>
            <a:rect l="l" t="t" r="r" b="b"/>
            <a:pathLst>
              <a:path w="6158533" h="6503479">
                <a:moveTo>
                  <a:pt x="0" y="0"/>
                </a:moveTo>
                <a:lnTo>
                  <a:pt x="6158534" y="0"/>
                </a:lnTo>
                <a:lnTo>
                  <a:pt x="6158534" y="6503479"/>
                </a:lnTo>
                <a:lnTo>
                  <a:pt x="0" y="6503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422762" flipH="1">
            <a:off x="11965371" y="3486011"/>
            <a:ext cx="6405919" cy="6764721"/>
          </a:xfrm>
          <a:custGeom>
            <a:avLst/>
            <a:gdLst/>
            <a:ahLst/>
            <a:cxnLst/>
            <a:rect l="l" t="t" r="r" b="b"/>
            <a:pathLst>
              <a:path w="6405919" h="6764721">
                <a:moveTo>
                  <a:pt x="6405919" y="0"/>
                </a:moveTo>
                <a:lnTo>
                  <a:pt x="0" y="0"/>
                </a:lnTo>
                <a:lnTo>
                  <a:pt x="0" y="6764721"/>
                </a:lnTo>
                <a:lnTo>
                  <a:pt x="6405919" y="6764721"/>
                </a:lnTo>
                <a:lnTo>
                  <a:pt x="6405919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2170799" y="306026"/>
            <a:ext cx="13946403" cy="4096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020"/>
              </a:lnSpc>
            </a:pPr>
            <a:r>
              <a:rPr lang="en-US" sz="14697">
                <a:solidFill>
                  <a:srgbClr val="FFFFFF"/>
                </a:solidFill>
                <a:latin typeface="Pattanakarn"/>
                <a:ea typeface="Pattanakarn"/>
                <a:cs typeface="Pattanakarn"/>
                <a:sym typeface="Pattanakarn"/>
              </a:rPr>
              <a:t>Any Questions?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977</Words>
  <Application>Microsoft Office PowerPoint</Application>
  <PresentationFormat>Custom</PresentationFormat>
  <Paragraphs>220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51" baseType="lpstr">
      <vt:lpstr>Cy Grotesk Key</vt:lpstr>
      <vt:lpstr>Lato Bold Italics</vt:lpstr>
      <vt:lpstr>Cy Grotesk Key Bold</vt:lpstr>
      <vt:lpstr>TT Norms Bold</vt:lpstr>
      <vt:lpstr>Lato Bold</vt:lpstr>
      <vt:lpstr>Telegraf</vt:lpstr>
      <vt:lpstr>Calibri</vt:lpstr>
      <vt:lpstr>Pattanakarn Italics</vt:lpstr>
      <vt:lpstr>Poppins</vt:lpstr>
      <vt:lpstr>Pattanakarn</vt:lpstr>
      <vt:lpstr>Computer Says No</vt:lpstr>
      <vt:lpstr>Poppins Bold</vt:lpstr>
      <vt:lpstr>Poppins Light</vt:lpstr>
      <vt:lpstr>Arial</vt:lpstr>
      <vt:lpstr>Telegraf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Dark Blue White Futuristic Illustration Artificial Intelligence Presentation</dc:title>
  <cp:lastModifiedBy>ABEYKOON AMDSK it23415218</cp:lastModifiedBy>
  <cp:revision>2</cp:revision>
  <dcterms:created xsi:type="dcterms:W3CDTF">2006-08-16T00:00:00Z</dcterms:created>
  <dcterms:modified xsi:type="dcterms:W3CDTF">2025-09-24T08:29:45Z</dcterms:modified>
  <dc:identifier>DAGx3yMH1UQ</dc:identifier>
</cp:coreProperties>
</file>